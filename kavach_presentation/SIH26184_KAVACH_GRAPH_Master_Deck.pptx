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evaluators, under the I4C framework, the central battle in financial cybercrime is intercepting the physical cash withdrawal before the trail goes dark. KAVACH-GRAPH replaces manual 45-minute inter-bank inquiry latency with sub-15ms deterministic graph pathfinding and spatial probability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citizen loses money, fraudsters split the funds across three layers of mule accounts in under 180 seconds and withdraw cash at an ATM in under 8 minutes. Our current police response averages 45 minutes across manual bank nodal emails. By the time a notice is processed, the money has exited the ATM dispenser.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Single-bank AML engines are blind to cross-bank hops. Relational databases fail at deep multi-hop graph queries, and financial transaction switches lack spatial awareness of physical ATM liquidity or police patrols.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MHA disclosures show over ₹52,000 Crore lost to cyber fraud in 6 years and over 32 Lakh mule accounts flagged. However, rapid intervention through 1930 has already saved ₹8,690 Crore, proving that sub-second response times directly preserve citizen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enforce a strict separation of concerns. Pathfinding and probability scoring are performed entirely by deterministic graph algorithms and mathematical decay solvers—guaranteeing sub-15ms latency without hallucinations. Gemini 2.5 is deployed strictly at the decision synthesis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graph engine reconstructing an active case in 8.4 milliseconds. It isolates a classic 1-to-3 fan-out designed to bypass reporting thresholds, followed by a rapid fan-in to two Tier-2 accounts. Every edge is weighted by timestamp differentials.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predict ATM-009 with 88% confidence? We evaluate three real-world constraints: Haversine spatial decay, terminal cash liquidity (filtering out ATMs with insufficient funds), and current withdrawal velocity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working command dashboard. When an incident is ingested, the node graph lights up sequentially with hop timestamps. The tactical map recenters on the target ATM with a pulsing intercept perimeter, and the Golden Hour countdown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highlights the core transformation. Today, tracing funds across multiple banks takes 45 to 120 minutes through manual emails and portals. KAVACH-GRAPH executes in under 15 milliseconds, shifting law enforcement from post-mortem filing to real-time physical interception.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verify national scalability, we stress-tested our engine against bursts of 50,000 synthetic transaction records. The in-memory graph maintains a sub-15 millisecond traversal latency with an active footprint under 400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established a clear, non-overpromising roadmap. Phase 1 is fully built and operational right now on our testbed. Phase 2 involves deploying within an I4C test sandbox to ingest historical NCRP data. Phase 3 targets state-wide federation.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KAVACH-GRAPH solves the central bottleneck of cyber fraud. It replaces slow, manual inter-bank queries with sub-15ms deterministic graph forensics and spatial decay calculations. It does not guess, it does not hallucinate, and it provides law enforcement with the exact time and location needed to intercept physical cash-outs.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SMART INDIA HACKATHON 2026 | MINISTRY OF HOME AFFAIRS (I4C)
</a:t>
            </a:r>
            <a:pPr indent="0" marL="0">
              <a:buNone/>
            </a:pPr>
            <a:r>
              <a:rPr lang="en-US" sz="2000" b="1" dirty="0">
                <a:solidFill>
                  <a:srgbClr val="F8FAFC"/>
                </a:solidFill>
                <a:latin typeface="Arial" pitchFamily="34" charset="0"/>
                <a:ea typeface="Arial" pitchFamily="34" charset="-122"/>
                <a:cs typeface="Arial" pitchFamily="34" charset="-120"/>
              </a:rPr>
              <a:t>PROJECT KAVACH-GRAPH: Autonomous Mule Layering Forensics &amp; Cash-Out Interception</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1 OF 12</a:t>
            </a:r>
            <a:endParaRPr lang="en-US" sz="850" dirty="0"/>
          </a:p>
        </p:txBody>
      </p:sp>
      <p:sp>
        <p:nvSpPr>
          <p:cNvPr id="6" name="Shape 3"/>
          <p:cNvSpPr/>
          <p:nvPr/>
        </p:nvSpPr>
        <p:spPr>
          <a:xfrm>
            <a:off x="731520" y="1554480"/>
            <a:ext cx="5257800" cy="1143000"/>
          </a:xfrm>
          <a:prstGeom prst="roundRect">
            <a:avLst>
              <a:gd name="adj" fmla="val 8000"/>
            </a:avLst>
          </a:prstGeom>
          <a:solidFill>
            <a:srgbClr val="0B1021"/>
          </a:solidFill>
          <a:ln w="12700">
            <a:solidFill>
              <a:srgbClr val="1E293B"/>
            </a:solidFill>
            <a:prstDash val="solid"/>
          </a:ln>
        </p:spPr>
      </p:sp>
      <p:sp>
        <p:nvSpPr>
          <p:cNvPr id="7" name="Text 4"/>
          <p:cNvSpPr/>
          <p:nvPr/>
        </p:nvSpPr>
        <p:spPr>
          <a:xfrm>
            <a:off x="914400" y="1600200"/>
            <a:ext cx="4892040" cy="1051560"/>
          </a:xfrm>
          <a:prstGeom prst="rect">
            <a:avLst/>
          </a:prstGeom>
          <a:noFill/>
          <a:ln/>
        </p:spPr>
        <p:txBody>
          <a:bodyPr wrap="square" lIns="0" tIns="0" rIns="0" bIns="0" rtlCol="0" anchor="ctr"/>
          <a:lstStyle/>
          <a:p>
            <a:pPr indent="0" marL="0">
              <a:buNone/>
            </a:pPr>
            <a:r>
              <a:rPr lang="en-US" sz="950" b="1" dirty="0">
                <a:solidFill>
                  <a:srgbClr val="38BDF8"/>
                </a:solidFill>
                <a:latin typeface="Arial" pitchFamily="34" charset="0"/>
                <a:ea typeface="Arial" pitchFamily="34" charset="-122"/>
                <a:cs typeface="Arial" pitchFamily="34" charset="-120"/>
              </a:rPr>
              <a:t>PROBLEM STATEMENT ID
</a:t>
            </a:r>
            <a:pPr indent="0" marL="0">
              <a:buNone/>
            </a:pPr>
            <a:r>
              <a:rPr lang="en-US" sz="1300" b="1" dirty="0">
                <a:solidFill>
                  <a:srgbClr val="F8FAFC"/>
                </a:solidFill>
                <a:latin typeface="Arial" pitchFamily="34" charset="0"/>
                <a:ea typeface="Arial" pitchFamily="34" charset="-122"/>
                <a:cs typeface="Arial" pitchFamily="34" charset="-120"/>
              </a:rPr>
              <a:t>SIH26184
</a:t>
            </a:r>
            <a:pPr indent="0" marL="0">
              <a:buNone/>
            </a:pPr>
            <a:r>
              <a:rPr lang="en-US" sz="900" dirty="0">
                <a:solidFill>
                  <a:srgbClr val="94A3B8"/>
                </a:solidFill>
                <a:latin typeface="Arial" pitchFamily="34" charset="0"/>
                <a:ea typeface="Arial" pitchFamily="34" charset="-122"/>
                <a:cs typeface="Arial" pitchFamily="34" charset="-120"/>
              </a:rPr>
              <a:t>Category: Software / Cyber Forensics</a:t>
            </a:r>
            <a:endParaRPr lang="en-US" sz="950" dirty="0"/>
          </a:p>
        </p:txBody>
      </p:sp>
      <p:sp>
        <p:nvSpPr>
          <p:cNvPr id="8" name="Shape 5"/>
          <p:cNvSpPr/>
          <p:nvPr/>
        </p:nvSpPr>
        <p:spPr>
          <a:xfrm>
            <a:off x="6172200" y="1554480"/>
            <a:ext cx="5257800" cy="1143000"/>
          </a:xfrm>
          <a:prstGeom prst="roundRect">
            <a:avLst>
              <a:gd name="adj" fmla="val 8000"/>
            </a:avLst>
          </a:prstGeom>
          <a:solidFill>
            <a:srgbClr val="0B1021"/>
          </a:solidFill>
          <a:ln w="12700">
            <a:solidFill>
              <a:srgbClr val="1E293B"/>
            </a:solidFill>
            <a:prstDash val="solid"/>
          </a:ln>
        </p:spPr>
      </p:sp>
      <p:sp>
        <p:nvSpPr>
          <p:cNvPr id="9" name="Text 6"/>
          <p:cNvSpPr/>
          <p:nvPr/>
        </p:nvSpPr>
        <p:spPr>
          <a:xfrm>
            <a:off x="6355080" y="1600200"/>
            <a:ext cx="4892040" cy="1051560"/>
          </a:xfrm>
          <a:prstGeom prst="rect">
            <a:avLst/>
          </a:prstGeom>
          <a:noFill/>
          <a:ln/>
        </p:spPr>
        <p:txBody>
          <a:bodyPr wrap="square" lIns="0" tIns="0" rIns="0" bIns="0" rtlCol="0" anchor="ctr"/>
          <a:lstStyle/>
          <a:p>
            <a:pPr indent="0" marL="0">
              <a:buNone/>
            </a:pPr>
            <a:r>
              <a:rPr lang="en-US" sz="950" b="1" dirty="0">
                <a:solidFill>
                  <a:srgbClr val="38BDF8"/>
                </a:solidFill>
                <a:latin typeface="Arial" pitchFamily="34" charset="0"/>
                <a:ea typeface="Arial" pitchFamily="34" charset="-122"/>
                <a:cs typeface="Arial" pitchFamily="34" charset="-120"/>
              </a:rPr>
              <a:t>GOVERNMENT CLIENT
</a:t>
            </a:r>
            <a:pPr indent="0" marL="0">
              <a:buNone/>
            </a:pPr>
            <a:r>
              <a:rPr lang="en-US" sz="1300" b="1" dirty="0">
                <a:solidFill>
                  <a:srgbClr val="F8FAFC"/>
                </a:solidFill>
                <a:latin typeface="Arial" pitchFamily="34" charset="0"/>
                <a:ea typeface="Arial" pitchFamily="34" charset="-122"/>
                <a:cs typeface="Arial" pitchFamily="34" charset="-120"/>
              </a:rPr>
              <a:t>Ministry of Home Affairs
</a:t>
            </a:r>
            <a:pPr indent="0" marL="0">
              <a:buNone/>
            </a:pPr>
            <a:r>
              <a:rPr lang="en-US" sz="900" dirty="0">
                <a:solidFill>
                  <a:srgbClr val="94A3B8"/>
                </a:solidFill>
                <a:latin typeface="Arial" pitchFamily="34" charset="0"/>
                <a:ea typeface="Arial" pitchFamily="34" charset="-122"/>
                <a:cs typeface="Arial" pitchFamily="34" charset="-120"/>
              </a:rPr>
              <a:t>Indian Cyber Crime Coordination Centre (I4C)</a:t>
            </a:r>
            <a:endParaRPr lang="en-US" sz="950" dirty="0"/>
          </a:p>
        </p:txBody>
      </p:sp>
      <p:sp>
        <p:nvSpPr>
          <p:cNvPr id="10" name="Shape 7"/>
          <p:cNvSpPr/>
          <p:nvPr/>
        </p:nvSpPr>
        <p:spPr>
          <a:xfrm>
            <a:off x="731520" y="2880360"/>
            <a:ext cx="5257800" cy="1143000"/>
          </a:xfrm>
          <a:prstGeom prst="roundRect">
            <a:avLst>
              <a:gd name="adj" fmla="val 8000"/>
            </a:avLst>
          </a:prstGeom>
          <a:solidFill>
            <a:srgbClr val="0B1021"/>
          </a:solidFill>
          <a:ln w="12700">
            <a:solidFill>
              <a:srgbClr val="1E293B"/>
            </a:solidFill>
            <a:prstDash val="solid"/>
          </a:ln>
        </p:spPr>
      </p:sp>
      <p:sp>
        <p:nvSpPr>
          <p:cNvPr id="11" name="Text 8"/>
          <p:cNvSpPr/>
          <p:nvPr/>
        </p:nvSpPr>
        <p:spPr>
          <a:xfrm>
            <a:off x="914400" y="2926080"/>
            <a:ext cx="4892040" cy="1051560"/>
          </a:xfrm>
          <a:prstGeom prst="rect">
            <a:avLst/>
          </a:prstGeom>
          <a:noFill/>
          <a:ln/>
        </p:spPr>
        <p:txBody>
          <a:bodyPr wrap="square" lIns="0" tIns="0" rIns="0" bIns="0" rtlCol="0" anchor="ctr"/>
          <a:lstStyle/>
          <a:p>
            <a:pPr indent="0" marL="0">
              <a:buNone/>
            </a:pPr>
            <a:r>
              <a:rPr lang="en-US" sz="950" b="1" dirty="0">
                <a:solidFill>
                  <a:srgbClr val="38BDF8"/>
                </a:solidFill>
                <a:latin typeface="Arial" pitchFamily="34" charset="0"/>
                <a:ea typeface="Arial" pitchFamily="34" charset="-122"/>
                <a:cs typeface="Arial" pitchFamily="34" charset="-120"/>
              </a:rPr>
              <a:t>NOMINATED INSTITUTION
</a:t>
            </a:r>
            <a:pPr indent="0" marL="0">
              <a:buNone/>
            </a:pPr>
            <a:r>
              <a:rPr lang="en-US" sz="1300" b="1" dirty="0">
                <a:solidFill>
                  <a:srgbClr val="F8FAFC"/>
                </a:solidFill>
                <a:latin typeface="Arial" pitchFamily="34" charset="0"/>
                <a:ea typeface="Arial" pitchFamily="34" charset="-122"/>
                <a:cs typeface="Arial" pitchFamily="34" charset="-120"/>
              </a:rPr>
              <a:t>ALTS (Anantapur)
</a:t>
            </a:r>
            <a:pPr indent="0" marL="0">
              <a:buNone/>
            </a:pPr>
            <a:r>
              <a:rPr lang="en-US" sz="900" dirty="0">
                <a:solidFill>
                  <a:srgbClr val="94A3B8"/>
                </a:solidFill>
                <a:latin typeface="Arial" pitchFamily="34" charset="0"/>
                <a:ea typeface="Arial" pitchFamily="34" charset="-122"/>
                <a:cs typeface="Arial" pitchFamily="34" charset="-120"/>
              </a:rPr>
              <a:t>SPOC: Dr. Muralidhar Kurni</a:t>
            </a:r>
            <a:endParaRPr lang="en-US" sz="950" dirty="0"/>
          </a:p>
        </p:txBody>
      </p:sp>
      <p:sp>
        <p:nvSpPr>
          <p:cNvPr id="12" name="Shape 9"/>
          <p:cNvSpPr/>
          <p:nvPr/>
        </p:nvSpPr>
        <p:spPr>
          <a:xfrm>
            <a:off x="6172200" y="2880360"/>
            <a:ext cx="5257800" cy="1143000"/>
          </a:xfrm>
          <a:prstGeom prst="roundRect">
            <a:avLst>
              <a:gd name="adj" fmla="val 8000"/>
            </a:avLst>
          </a:prstGeom>
          <a:solidFill>
            <a:srgbClr val="0B1021"/>
          </a:solidFill>
          <a:ln w="12700">
            <a:solidFill>
              <a:srgbClr val="1E293B"/>
            </a:solidFill>
            <a:prstDash val="solid"/>
          </a:ln>
        </p:spPr>
      </p:sp>
      <p:sp>
        <p:nvSpPr>
          <p:cNvPr id="13" name="Text 10"/>
          <p:cNvSpPr/>
          <p:nvPr/>
        </p:nvSpPr>
        <p:spPr>
          <a:xfrm>
            <a:off x="6355080" y="2926080"/>
            <a:ext cx="4892040" cy="1051560"/>
          </a:xfrm>
          <a:prstGeom prst="rect">
            <a:avLst/>
          </a:prstGeom>
          <a:noFill/>
          <a:ln/>
        </p:spPr>
        <p:txBody>
          <a:bodyPr wrap="square" lIns="0" tIns="0" rIns="0" bIns="0" rtlCol="0" anchor="ctr"/>
          <a:lstStyle/>
          <a:p>
            <a:pPr indent="0" marL="0">
              <a:buNone/>
            </a:pPr>
            <a:r>
              <a:rPr lang="en-US" sz="950" b="1" dirty="0">
                <a:solidFill>
                  <a:srgbClr val="38BDF8"/>
                </a:solidFill>
                <a:latin typeface="Arial" pitchFamily="34" charset="0"/>
                <a:ea typeface="Arial" pitchFamily="34" charset="-122"/>
                <a:cs typeface="Arial" pitchFamily="34" charset="-120"/>
              </a:rPr>
              <a:t>STATUTORY COMPLIANCE
</a:t>
            </a:r>
            <a:pPr indent="0" marL="0">
              <a:buNone/>
            </a:pPr>
            <a:r>
              <a:rPr lang="en-US" sz="1300" b="1" dirty="0">
                <a:solidFill>
                  <a:srgbClr val="F8FAFC"/>
                </a:solidFill>
                <a:latin typeface="Arial" pitchFamily="34" charset="0"/>
                <a:ea typeface="Arial" pitchFamily="34" charset="-122"/>
                <a:cs typeface="Arial" pitchFamily="34" charset="-120"/>
              </a:rPr>
              <a:t>Sec 91 &amp; 102 CrPC
</a:t>
            </a:r>
            <a:pPr indent="0" marL="0">
              <a:buNone/>
            </a:pPr>
            <a:r>
              <a:rPr lang="en-US" sz="900" dirty="0">
                <a:solidFill>
                  <a:srgbClr val="94A3B8"/>
                </a:solidFill>
                <a:latin typeface="Arial" pitchFamily="34" charset="0"/>
                <a:ea typeface="Arial" pitchFamily="34" charset="-122"/>
                <a:cs typeface="Arial" pitchFamily="34" charset="-120"/>
              </a:rPr>
              <a:t>ISO 20022 Financial Messaging &amp; DPDP 2023</a:t>
            </a:r>
            <a:endParaRPr lang="en-US" sz="950" dirty="0"/>
          </a:p>
        </p:txBody>
      </p:sp>
      <p:sp>
        <p:nvSpPr>
          <p:cNvPr id="14" name="Shape 11"/>
          <p:cNvSpPr/>
          <p:nvPr/>
        </p:nvSpPr>
        <p:spPr>
          <a:xfrm>
            <a:off x="731520" y="4389120"/>
            <a:ext cx="10698480" cy="1645920"/>
          </a:xfrm>
          <a:prstGeom prst="roundRect">
            <a:avLst>
              <a:gd name="adj" fmla="val 5556"/>
            </a:avLst>
          </a:prstGeom>
          <a:solidFill>
            <a:srgbClr val="0B1021"/>
          </a:solidFill>
          <a:ln w="19050">
            <a:solidFill>
              <a:srgbClr val="EF4444"/>
            </a:solidFill>
            <a:prstDash val="solid"/>
          </a:ln>
        </p:spPr>
      </p:sp>
      <p:sp>
        <p:nvSpPr>
          <p:cNvPr id="15" name="Text 12"/>
          <p:cNvSpPr/>
          <p:nvPr/>
        </p:nvSpPr>
        <p:spPr>
          <a:xfrm>
            <a:off x="914400" y="4526280"/>
            <a:ext cx="10332720" cy="1371600"/>
          </a:xfrm>
          <a:prstGeom prst="rect">
            <a:avLst/>
          </a:prstGeom>
          <a:noFill/>
          <a:ln/>
        </p:spPr>
        <p:txBody>
          <a:bodyPr wrap="square" lIns="0" tIns="0" rIns="0" bIns="0" rtlCol="0" anchor="ctr"/>
          <a:lstStyle/>
          <a:p>
            <a:pPr indent="0" marL="0">
              <a:buNone/>
            </a:pPr>
            <a:r>
              <a:rPr lang="en-US" sz="1100" b="1" dirty="0">
                <a:solidFill>
                  <a:srgbClr val="EF4444"/>
                </a:solidFill>
                <a:latin typeface="Arial" pitchFamily="34" charset="0"/>
                <a:ea typeface="Arial" pitchFamily="34" charset="-122"/>
                <a:cs typeface="Arial" pitchFamily="34" charset="-120"/>
              </a:rPr>
              <a:t>OPERATIONAL SCOPE &amp; EXECUTIVE VALUE
</a:t>
            </a:r>
            <a:pPr indent="0" marL="0">
              <a:buNone/>
            </a:pPr>
            <a:r>
              <a:rPr lang="en-US" sz="1050" dirty="0">
                <a:solidFill>
                  <a:srgbClr val="F8FAFC"/>
                </a:solidFill>
                <a:latin typeface="Arial" pitchFamily="34" charset="0"/>
                <a:ea typeface="Arial" pitchFamily="34" charset="-122"/>
                <a:cs typeface="Arial" pitchFamily="34" charset="-120"/>
              </a:rPr>
              <a:t>An autonomous decision-support system for the CFCFRMS (1930 Helpline) that ingests cybercrime complaints, reconstructs multi-tier smurfing topologies in &lt;15 milliseconds, predicts target cash-out ATMs using spatial decay algorithms, and automates Section 91 CrPC freeze recommendations before physical extraction occurs.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PROBLEM STATEMENT ANALYSIS
</a:t>
            </a:r>
            <a:pPr indent="0" marL="0">
              <a:buNone/>
            </a:pPr>
            <a:r>
              <a:rPr lang="en-US" sz="2000" b="1" dirty="0">
                <a:solidFill>
                  <a:srgbClr val="F8FAFC"/>
                </a:solidFill>
                <a:latin typeface="Arial" pitchFamily="34" charset="0"/>
                <a:ea typeface="Arial" pitchFamily="34" charset="-122"/>
                <a:cs typeface="Arial" pitchFamily="34" charset="-120"/>
              </a:rPr>
              <a:t>The 12-Minute Cash-Out Window: Syndicates Move at UPI Speed, Police at Bureaucratic Speed</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2 OF 12</a:t>
            </a:r>
            <a:endParaRPr lang="en-US" sz="850" dirty="0"/>
          </a:p>
        </p:txBody>
      </p:sp>
      <p:sp>
        <p:nvSpPr>
          <p:cNvPr id="6" name="Shape 3"/>
          <p:cNvSpPr/>
          <p:nvPr/>
        </p:nvSpPr>
        <p:spPr>
          <a:xfrm>
            <a:off x="731520" y="1554480"/>
            <a:ext cx="5257800" cy="4480560"/>
          </a:xfrm>
          <a:prstGeom prst="roundRect">
            <a:avLst>
              <a:gd name="adj" fmla="val 2041"/>
            </a:avLst>
          </a:prstGeom>
          <a:solidFill>
            <a:srgbClr val="0B1021"/>
          </a:solidFill>
          <a:ln w="19050">
            <a:solidFill>
              <a:srgbClr val="EF4444"/>
            </a:solidFill>
            <a:prstDash val="solid"/>
          </a:ln>
        </p:spPr>
      </p:sp>
      <p:sp>
        <p:nvSpPr>
          <p:cNvPr id="7" name="Text 4"/>
          <p:cNvSpPr/>
          <p:nvPr/>
        </p:nvSpPr>
        <p:spPr>
          <a:xfrm>
            <a:off x="914400" y="1737360"/>
            <a:ext cx="4892040" cy="4114800"/>
          </a:xfrm>
          <a:prstGeom prst="rect">
            <a:avLst/>
          </a:prstGeom>
          <a:noFill/>
          <a:ln/>
        </p:spPr>
        <p:txBody>
          <a:bodyPr wrap="square" lIns="0" tIns="0" rIns="0" bIns="0" rtlCol="0" anchor="ctr"/>
          <a:lstStyle/>
          <a:p>
            <a:pPr indent="0" marL="0">
              <a:buNone/>
            </a:pPr>
            <a:r>
              <a:rPr lang="en-US" sz="1200" b="1" dirty="0">
                <a:solidFill>
                  <a:srgbClr val="EF4444"/>
                </a:solidFill>
                <a:latin typeface="Arial" pitchFamily="34" charset="0"/>
                <a:ea typeface="Arial" pitchFamily="34" charset="-122"/>
                <a:cs typeface="Arial" pitchFamily="34" charset="-120"/>
              </a:rPr>
              <a:t>ADVERSARY SPEED (0 TO 8 MINS)
</a:t>
            </a:r>
            <a:pPr indent="0" marL="0">
              <a:buNone/>
            </a:pPr>
            <a:r>
              <a:rPr lang="en-US" sz="1000" b="1" dirty="0">
                <a:solidFill>
                  <a:srgbClr val="F8FAFC"/>
                </a:solidFill>
                <a:latin typeface="Arial" pitchFamily="34" charset="0"/>
                <a:ea typeface="Arial" pitchFamily="34" charset="-122"/>
                <a:cs typeface="Arial" pitchFamily="34" charset="-120"/>
              </a:rPr>
              <a:t>• [t = 00s] Victim Defrauded: </a:t>
            </a:r>
            <a:pPr indent="0" marL="0">
              <a:buNone/>
            </a:pPr>
            <a:r>
              <a:rPr lang="en-US" sz="1000" dirty="0">
                <a:solidFill>
                  <a:srgbClr val="94A3B8"/>
                </a:solidFill>
                <a:latin typeface="Arial" pitchFamily="34" charset="0"/>
                <a:ea typeface="Arial" pitchFamily="34" charset="-122"/>
                <a:cs typeface="Arial" pitchFamily="34" charset="-120"/>
              </a:rPr>
              <a:t>Citizen loses ₹8.5 Lakhs via phishing / digital arrest scam.
</a:t>
            </a:r>
            <a:pPr indent="0" marL="0">
              <a:buNone/>
            </a:pPr>
            <a:r>
              <a:rPr lang="en-US" sz="1000" b="1" dirty="0">
                <a:solidFill>
                  <a:srgbClr val="F8FAFC"/>
                </a:solidFill>
                <a:latin typeface="Arial" pitchFamily="34" charset="0"/>
                <a:ea typeface="Arial" pitchFamily="34" charset="-122"/>
                <a:cs typeface="Arial" pitchFamily="34" charset="-120"/>
              </a:rPr>
              <a:t>• [t = 45s] Layer-1 Smurfing: </a:t>
            </a:r>
            <a:pPr indent="0" marL="0">
              <a:buNone/>
            </a:pPr>
            <a:r>
              <a:rPr lang="en-US" sz="1000" dirty="0">
                <a:solidFill>
                  <a:srgbClr val="94A3B8"/>
                </a:solidFill>
                <a:latin typeface="Arial" pitchFamily="34" charset="0"/>
                <a:ea typeface="Arial" pitchFamily="34" charset="-122"/>
                <a:cs typeface="Arial" pitchFamily="34" charset="-120"/>
              </a:rPr>
              <a:t>Funds split into 3 sub-₹50k tranches via UPI to evade AML limits.
</a:t>
            </a:r>
            <a:pPr indent="0" marL="0">
              <a:buNone/>
            </a:pPr>
            <a:r>
              <a:rPr lang="en-US" sz="1000" b="1" dirty="0">
                <a:solidFill>
                  <a:srgbClr val="F8FAFC"/>
                </a:solidFill>
                <a:latin typeface="Arial" pitchFamily="34" charset="0"/>
                <a:ea typeface="Arial" pitchFamily="34" charset="-122"/>
                <a:cs typeface="Arial" pitchFamily="34" charset="-120"/>
              </a:rPr>
              <a:t>• [t = 180s] Layer-2 Aggregation: </a:t>
            </a:r>
            <a:pPr indent="0" marL="0">
              <a:buNone/>
            </a:pPr>
            <a:r>
              <a:rPr lang="en-US" sz="1000" dirty="0">
                <a:solidFill>
                  <a:srgbClr val="94A3B8"/>
                </a:solidFill>
                <a:latin typeface="Arial" pitchFamily="34" charset="0"/>
                <a:ea typeface="Arial" pitchFamily="34" charset="-122"/>
                <a:cs typeface="Arial" pitchFamily="34" charset="-120"/>
              </a:rPr>
              <a:t>Re-aggregated into 2 pass-through accounts across different banks.
</a:t>
            </a:r>
            <a:pPr indent="0" marL="0">
              <a:buNone/>
            </a:pPr>
            <a:r>
              <a:rPr lang="en-US" sz="1000" b="1" dirty="0">
                <a:solidFill>
                  <a:srgbClr val="EF4444"/>
                </a:solidFill>
                <a:latin typeface="Arial" pitchFamily="34" charset="0"/>
                <a:ea typeface="Arial" pitchFamily="34" charset="-122"/>
                <a:cs typeface="Arial" pitchFamily="34" charset="-120"/>
              </a:rPr>
              <a:t>• [t = 480s] PHYSICAL CASHOUT: </a:t>
            </a:r>
            <a:pPr indent="0" marL="0">
              <a:buNone/>
            </a:pPr>
            <a:r>
              <a:rPr lang="en-US" sz="1000" dirty="0">
                <a:solidFill>
                  <a:srgbClr val="94A3B8"/>
                </a:solidFill>
                <a:latin typeface="Arial" pitchFamily="34" charset="0"/>
                <a:ea typeface="Arial" pitchFamily="34" charset="-122"/>
                <a:cs typeface="Arial" pitchFamily="34" charset="-120"/>
              </a:rPr>
              <a:t>Mule withdraws currency from regional ATM. Trail goes completely dark.</a:t>
            </a:r>
            <a:endParaRPr lang="en-US" sz="1200" dirty="0"/>
          </a:p>
        </p:txBody>
      </p:sp>
      <p:sp>
        <p:nvSpPr>
          <p:cNvPr id="8" name="Shape 5"/>
          <p:cNvSpPr/>
          <p:nvPr/>
        </p:nvSpPr>
        <p:spPr>
          <a:xfrm>
            <a:off x="6172200" y="1554480"/>
            <a:ext cx="5257800" cy="4480560"/>
          </a:xfrm>
          <a:prstGeom prst="roundRect">
            <a:avLst>
              <a:gd name="adj" fmla="val 2041"/>
            </a:avLst>
          </a:prstGeom>
          <a:solidFill>
            <a:srgbClr val="0B1021"/>
          </a:solidFill>
          <a:ln w="12700">
            <a:solidFill>
              <a:srgbClr val="1E293B"/>
            </a:solidFill>
            <a:prstDash val="solid"/>
          </a:ln>
        </p:spPr>
      </p:sp>
      <p:sp>
        <p:nvSpPr>
          <p:cNvPr id="9" name="Text 6"/>
          <p:cNvSpPr/>
          <p:nvPr/>
        </p:nvSpPr>
        <p:spPr>
          <a:xfrm>
            <a:off x="6355080" y="1737360"/>
            <a:ext cx="4892040" cy="41148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CURRENT 1930 / POLICE TRIAGE LAG (0 TO 45+ MINS)
</a:t>
            </a:r>
            <a:pPr indent="0" marL="0">
              <a:buNone/>
            </a:pPr>
            <a:r>
              <a:rPr lang="en-US" sz="1000" b="1" dirty="0">
                <a:solidFill>
                  <a:srgbClr val="F8FAFC"/>
                </a:solidFill>
                <a:latin typeface="Arial" pitchFamily="34" charset="0"/>
                <a:ea typeface="Arial" pitchFamily="34" charset="-122"/>
                <a:cs typeface="Arial" pitchFamily="34" charset="-120"/>
              </a:rPr>
              <a:t>• [t = 10m] 1930 Helpline Call: </a:t>
            </a:r>
            <a:pPr indent="0" marL="0">
              <a:buNone/>
            </a:pPr>
            <a:r>
              <a:rPr lang="en-US" sz="1000" dirty="0">
                <a:solidFill>
                  <a:srgbClr val="94A3B8"/>
                </a:solidFill>
                <a:latin typeface="Arial" pitchFamily="34" charset="0"/>
                <a:ea typeface="Arial" pitchFamily="34" charset="-122"/>
                <a:cs typeface="Arial" pitchFamily="34" charset="-120"/>
              </a:rPr>
              <a:t>Distressed citizen connects with state cyber cell call taker.
</a:t>
            </a:r>
            <a:pPr indent="0" marL="0">
              <a:buNone/>
            </a:pPr>
            <a:r>
              <a:rPr lang="en-US" sz="1000" b="1" dirty="0">
                <a:solidFill>
                  <a:srgbClr val="F8FAFC"/>
                </a:solidFill>
                <a:latin typeface="Arial" pitchFamily="34" charset="0"/>
                <a:ea typeface="Arial" pitchFamily="34" charset="-122"/>
                <a:cs typeface="Arial" pitchFamily="34" charset="-120"/>
              </a:rPr>
              <a:t>• [t = 18m] NCRP Ticket Logged: </a:t>
            </a:r>
            <a:pPr indent="0" marL="0">
              <a:buNone/>
            </a:pPr>
            <a:r>
              <a:rPr lang="en-US" sz="1000" dirty="0">
                <a:solidFill>
                  <a:srgbClr val="94A3B8"/>
                </a:solidFill>
                <a:latin typeface="Arial" pitchFamily="34" charset="0"/>
                <a:ea typeface="Arial" pitchFamily="34" charset="-122"/>
                <a:cs typeface="Arial" pitchFamily="34" charset="-120"/>
              </a:rPr>
              <a:t>Manual entry of UTR and transaction references into portal.
</a:t>
            </a:r>
            <a:pPr indent="0" marL="0">
              <a:buNone/>
            </a:pPr>
            <a:r>
              <a:rPr lang="en-US" sz="1000" b="1" dirty="0">
                <a:solidFill>
                  <a:srgbClr val="F8FAFC"/>
                </a:solidFill>
                <a:latin typeface="Arial" pitchFamily="34" charset="0"/>
                <a:ea typeface="Arial" pitchFamily="34" charset="-122"/>
                <a:cs typeface="Arial" pitchFamily="34" charset="-120"/>
              </a:rPr>
              <a:t>• [t = 32m] Bank Nodal Inquiries: </a:t>
            </a:r>
            <a:pPr indent="0" marL="0">
              <a:buNone/>
            </a:pPr>
            <a:r>
              <a:rPr lang="en-US" sz="1000" dirty="0">
                <a:solidFill>
                  <a:srgbClr val="94A3B8"/>
                </a:solidFill>
                <a:latin typeface="Arial" pitchFamily="34" charset="0"/>
                <a:ea typeface="Arial" pitchFamily="34" charset="-122"/>
                <a:cs typeface="Arial" pitchFamily="34" charset="-120"/>
              </a:rPr>
              <a:t>Sequential emails dispatched to Bank A; waiting on human officer.
</a:t>
            </a:r>
            <a:pPr indent="0" marL="0">
              <a:buNone/>
            </a:pPr>
            <a:r>
              <a:rPr lang="en-US" sz="1000" b="1" dirty="0">
                <a:solidFill>
                  <a:srgbClr val="38BDF8"/>
                </a:solidFill>
                <a:latin typeface="Arial" pitchFamily="34" charset="0"/>
                <a:ea typeface="Arial" pitchFamily="34" charset="-122"/>
                <a:cs typeface="Arial" pitchFamily="34" charset="-120"/>
              </a:rPr>
              <a:t>• [t = 50m+] POST-MORTEM FILING: </a:t>
            </a:r>
            <a:pPr indent="0" marL="0">
              <a:buNone/>
            </a:pPr>
            <a:r>
              <a:rPr lang="en-US" sz="1000" dirty="0">
                <a:solidFill>
                  <a:srgbClr val="94A3B8"/>
                </a:solidFill>
                <a:latin typeface="Arial" pitchFamily="34" charset="0"/>
                <a:ea typeface="Arial" pitchFamily="34" charset="-122"/>
                <a:cs typeface="Arial" pitchFamily="34" charset="-120"/>
              </a:rPr>
              <a:t>Bank A confirms funds already hopped to Bank B. Ledger trail is dead.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ROOT-CAUSE DIAGNOSTIC
</a:t>
            </a:r>
            <a:pPr indent="0" marL="0">
              <a:buNone/>
            </a:pPr>
            <a:r>
              <a:rPr lang="en-US" sz="2000" b="1" dirty="0">
                <a:solidFill>
                  <a:srgbClr val="F8FAFC"/>
                </a:solidFill>
                <a:latin typeface="Arial" pitchFamily="34" charset="0"/>
                <a:ea typeface="Arial" pitchFamily="34" charset="-122"/>
                <a:cs typeface="Arial" pitchFamily="34" charset="-120"/>
              </a:rPr>
              <a:t>Three Structural Blindspots in Existing Anti-Fraud Infrastructure</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3 OF 12</a:t>
            </a:r>
            <a:endParaRPr lang="en-US" sz="850" dirty="0"/>
          </a:p>
        </p:txBody>
      </p:sp>
      <p:sp>
        <p:nvSpPr>
          <p:cNvPr id="6" name="Shape 3"/>
          <p:cNvSpPr/>
          <p:nvPr/>
        </p:nvSpPr>
        <p:spPr>
          <a:xfrm>
            <a:off x="731520" y="1554480"/>
            <a:ext cx="3474720" cy="4480560"/>
          </a:xfrm>
          <a:prstGeom prst="roundRect">
            <a:avLst>
              <a:gd name="adj" fmla="val 2632"/>
            </a:avLst>
          </a:prstGeom>
          <a:solidFill>
            <a:srgbClr val="0B1021"/>
          </a:solidFill>
          <a:ln w="12700">
            <a:solidFill>
              <a:srgbClr val="1E293B"/>
            </a:solidFill>
            <a:prstDash val="solid"/>
          </a:ln>
        </p:spPr>
      </p:sp>
      <p:sp>
        <p:nvSpPr>
          <p:cNvPr id="7" name="Text 4"/>
          <p:cNvSpPr/>
          <p:nvPr/>
        </p:nvSpPr>
        <p:spPr>
          <a:xfrm>
            <a:off x="914400" y="1737360"/>
            <a:ext cx="3108960" cy="41148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01
</a:t>
            </a:r>
            <a:pPr indent="0" marL="0">
              <a:buNone/>
            </a:pPr>
            <a:r>
              <a:rPr lang="en-US" sz="1200" b="1" dirty="0">
                <a:solidFill>
                  <a:srgbClr val="F8FAFC"/>
                </a:solidFill>
                <a:latin typeface="Arial" pitchFamily="34" charset="0"/>
                <a:ea typeface="Arial" pitchFamily="34" charset="-122"/>
                <a:cs typeface="Arial" pitchFamily="34" charset="-120"/>
              </a:rPr>
              <a:t>INSTITUTIONAL SILOS
</a:t>
            </a:r>
            <a:pPr indent="0" marL="0">
              <a:buNone/>
            </a:pPr>
            <a:r>
              <a:rPr lang="en-US" sz="1050" dirty="0">
                <a:solidFill>
                  <a:srgbClr val="94A3B8"/>
                </a:solidFill>
                <a:latin typeface="Arial" pitchFamily="34" charset="0"/>
                <a:ea typeface="Arial" pitchFamily="34" charset="-122"/>
                <a:cs typeface="Arial" pitchFamily="34" charset="-120"/>
              </a:rPr>
              <a:t>Banks only monitor internal accounts. When funds jump from HDFC to SBI to ICICI, forensic visibility breaks at each boundary.</a:t>
            </a:r>
            <a:endParaRPr lang="en-US" sz="2400" dirty="0"/>
          </a:p>
        </p:txBody>
      </p:sp>
      <p:sp>
        <p:nvSpPr>
          <p:cNvPr id="8" name="Shape 5"/>
          <p:cNvSpPr/>
          <p:nvPr/>
        </p:nvSpPr>
        <p:spPr>
          <a:xfrm>
            <a:off x="4343400" y="1554480"/>
            <a:ext cx="3474720" cy="4480560"/>
          </a:xfrm>
          <a:prstGeom prst="roundRect">
            <a:avLst>
              <a:gd name="adj" fmla="val 2632"/>
            </a:avLst>
          </a:prstGeom>
          <a:solidFill>
            <a:srgbClr val="0B1021"/>
          </a:solidFill>
          <a:ln w="12700">
            <a:solidFill>
              <a:srgbClr val="1E293B"/>
            </a:solidFill>
            <a:prstDash val="solid"/>
          </a:ln>
        </p:spPr>
      </p:sp>
      <p:sp>
        <p:nvSpPr>
          <p:cNvPr id="9" name="Text 6"/>
          <p:cNvSpPr/>
          <p:nvPr/>
        </p:nvSpPr>
        <p:spPr>
          <a:xfrm>
            <a:off x="4526280" y="1737360"/>
            <a:ext cx="3108960" cy="41148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02
</a:t>
            </a:r>
            <a:pPr indent="0" marL="0">
              <a:buNone/>
            </a:pPr>
            <a:r>
              <a:rPr lang="en-US" sz="1200" b="1" dirty="0">
                <a:solidFill>
                  <a:srgbClr val="F8FAFC"/>
                </a:solidFill>
                <a:latin typeface="Arial" pitchFamily="34" charset="0"/>
                <a:ea typeface="Arial" pitchFamily="34" charset="-122"/>
                <a:cs typeface="Arial" pitchFamily="34" charset="-120"/>
              </a:rPr>
              <a:t>RELATIONAL GRAPH LIMITS
</a:t>
            </a:r>
            <a:pPr indent="0" marL="0">
              <a:buNone/>
            </a:pPr>
            <a:r>
              <a:rPr lang="en-US" sz="1050" dirty="0">
                <a:solidFill>
                  <a:srgbClr val="94A3B8"/>
                </a:solidFill>
                <a:latin typeface="Arial" pitchFamily="34" charset="0"/>
                <a:ea typeface="Arial" pitchFamily="34" charset="-122"/>
                <a:cs typeface="Arial" pitchFamily="34" charset="-120"/>
              </a:rPr>
              <a:t>SQL tables fail on recursive cross-entity pathfinding; deep multi-hop queries time out under high transaction volumes.</a:t>
            </a:r>
            <a:endParaRPr lang="en-US" sz="2400" dirty="0"/>
          </a:p>
        </p:txBody>
      </p:sp>
      <p:sp>
        <p:nvSpPr>
          <p:cNvPr id="10" name="Shape 7"/>
          <p:cNvSpPr/>
          <p:nvPr/>
        </p:nvSpPr>
        <p:spPr>
          <a:xfrm>
            <a:off x="7955280" y="1554480"/>
            <a:ext cx="3474720" cy="4480560"/>
          </a:xfrm>
          <a:prstGeom prst="roundRect">
            <a:avLst>
              <a:gd name="adj" fmla="val 2632"/>
            </a:avLst>
          </a:prstGeom>
          <a:solidFill>
            <a:srgbClr val="0B1021"/>
          </a:solidFill>
          <a:ln w="12700">
            <a:solidFill>
              <a:srgbClr val="1E293B"/>
            </a:solidFill>
            <a:prstDash val="solid"/>
          </a:ln>
        </p:spPr>
      </p:sp>
      <p:sp>
        <p:nvSpPr>
          <p:cNvPr id="11" name="Text 8"/>
          <p:cNvSpPr/>
          <p:nvPr/>
        </p:nvSpPr>
        <p:spPr>
          <a:xfrm>
            <a:off x="8138160" y="1737360"/>
            <a:ext cx="3108960" cy="41148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03
</a:t>
            </a:r>
            <a:pPr indent="0" marL="0">
              <a:buNone/>
            </a:pPr>
            <a:r>
              <a:rPr lang="en-US" sz="1200" b="1" dirty="0">
                <a:solidFill>
                  <a:srgbClr val="F8FAFC"/>
                </a:solidFill>
                <a:latin typeface="Arial" pitchFamily="34" charset="0"/>
                <a:ea typeface="Arial" pitchFamily="34" charset="-122"/>
                <a:cs typeface="Arial" pitchFamily="34" charset="-120"/>
              </a:rPr>
              <a:t>NO SPATIAL AWARENESS
</a:t>
            </a:r>
            <a:pPr indent="0" marL="0">
              <a:buNone/>
            </a:pPr>
            <a:r>
              <a:rPr lang="en-US" sz="1050" dirty="0">
                <a:solidFill>
                  <a:srgbClr val="94A3B8"/>
                </a:solidFill>
                <a:latin typeface="Arial" pitchFamily="34" charset="0"/>
                <a:ea typeface="Arial" pitchFamily="34" charset="-122"/>
                <a:cs typeface="Arial" pitchFamily="34" charset="-120"/>
              </a:rPr>
              <a:t>Financial switches process transactions with zero real-time correlation to physical ATM cash balances or police patrol GPS.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RESEARCH &amp; STATISTICAL VALIDATION
</a:t>
            </a:r>
            <a:pPr indent="0" marL="0">
              <a:buNone/>
            </a:pPr>
            <a:r>
              <a:rPr lang="en-US" sz="2000" b="1" dirty="0">
                <a:solidFill>
                  <a:srgbClr val="F8FAFC"/>
                </a:solidFill>
                <a:latin typeface="Arial" pitchFamily="34" charset="0"/>
                <a:ea typeface="Arial" pitchFamily="34" charset="-122"/>
                <a:cs typeface="Arial" pitchFamily="34" charset="-120"/>
              </a:rPr>
              <a:t>Validated National Cyber Fraud Data &amp; Statutory Legal Anchors</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4 OF 12</a:t>
            </a:r>
            <a:endParaRPr lang="en-US" sz="850" dirty="0"/>
          </a:p>
        </p:txBody>
      </p:sp>
      <p:sp>
        <p:nvSpPr>
          <p:cNvPr id="6" name="Shape 3"/>
          <p:cNvSpPr/>
          <p:nvPr/>
        </p:nvSpPr>
        <p:spPr>
          <a:xfrm>
            <a:off x="731520" y="1554480"/>
            <a:ext cx="3474720" cy="1463040"/>
          </a:xfrm>
          <a:prstGeom prst="roundRect">
            <a:avLst>
              <a:gd name="adj" fmla="val 6250"/>
            </a:avLst>
          </a:prstGeom>
          <a:solidFill>
            <a:srgbClr val="0B1021"/>
          </a:solidFill>
          <a:ln w="12700">
            <a:solidFill>
              <a:srgbClr val="38BDF8"/>
            </a:solidFill>
            <a:prstDash val="solid"/>
          </a:ln>
        </p:spPr>
      </p:sp>
      <p:sp>
        <p:nvSpPr>
          <p:cNvPr id="7" name="Text 4"/>
          <p:cNvSpPr/>
          <p:nvPr/>
        </p:nvSpPr>
        <p:spPr>
          <a:xfrm>
            <a:off x="914400" y="1691640"/>
            <a:ext cx="3108960" cy="118872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₹52,976 CR
</a:t>
            </a:r>
            <a:pPr indent="0" marL="0">
              <a:buNone/>
            </a:pPr>
            <a:r>
              <a:rPr lang="en-US" sz="950" dirty="0">
                <a:solidFill>
                  <a:srgbClr val="F8FAFC"/>
                </a:solidFill>
                <a:latin typeface="Arial" pitchFamily="34" charset="0"/>
                <a:ea typeface="Arial" pitchFamily="34" charset="-122"/>
                <a:cs typeface="Arial" pitchFamily="34" charset="-120"/>
              </a:rPr>
              <a:t>Lost across India over 6 yrs (I4C / NHRC Disclosures)</a:t>
            </a:r>
            <a:endParaRPr lang="en-US" sz="1800" dirty="0"/>
          </a:p>
        </p:txBody>
      </p:sp>
      <p:sp>
        <p:nvSpPr>
          <p:cNvPr id="8" name="Shape 5"/>
          <p:cNvSpPr/>
          <p:nvPr/>
        </p:nvSpPr>
        <p:spPr>
          <a:xfrm>
            <a:off x="4343400" y="1554480"/>
            <a:ext cx="3474720" cy="1463040"/>
          </a:xfrm>
          <a:prstGeom prst="roundRect">
            <a:avLst>
              <a:gd name="adj" fmla="val 6250"/>
            </a:avLst>
          </a:prstGeom>
          <a:solidFill>
            <a:srgbClr val="0B1021"/>
          </a:solidFill>
          <a:ln w="12700">
            <a:solidFill>
              <a:srgbClr val="38BDF8"/>
            </a:solidFill>
            <a:prstDash val="solid"/>
          </a:ln>
        </p:spPr>
      </p:sp>
      <p:sp>
        <p:nvSpPr>
          <p:cNvPr id="9" name="Text 6"/>
          <p:cNvSpPr/>
          <p:nvPr/>
        </p:nvSpPr>
        <p:spPr>
          <a:xfrm>
            <a:off x="4526280" y="1691640"/>
            <a:ext cx="3108960" cy="118872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32+ LAKH
</a:t>
            </a:r>
            <a:pPr indent="0" marL="0">
              <a:buNone/>
            </a:pPr>
            <a:r>
              <a:rPr lang="en-US" sz="950" dirty="0">
                <a:solidFill>
                  <a:srgbClr val="F8FAFC"/>
                </a:solidFill>
                <a:latin typeface="Arial" pitchFamily="34" charset="0"/>
                <a:ea typeface="Arial" pitchFamily="34" charset="-122"/>
                <a:cs typeface="Arial" pitchFamily="34" charset="-120"/>
              </a:rPr>
              <a:t>Mule accounts identified in I4C National Suspect Registry</a:t>
            </a:r>
            <a:endParaRPr lang="en-US" sz="1800" dirty="0"/>
          </a:p>
        </p:txBody>
      </p:sp>
      <p:sp>
        <p:nvSpPr>
          <p:cNvPr id="10" name="Shape 7"/>
          <p:cNvSpPr/>
          <p:nvPr/>
        </p:nvSpPr>
        <p:spPr>
          <a:xfrm>
            <a:off x="7955280" y="1554480"/>
            <a:ext cx="3474720" cy="1463040"/>
          </a:xfrm>
          <a:prstGeom prst="roundRect">
            <a:avLst>
              <a:gd name="adj" fmla="val 6250"/>
            </a:avLst>
          </a:prstGeom>
          <a:solidFill>
            <a:srgbClr val="0B1021"/>
          </a:solidFill>
          <a:ln w="12700">
            <a:solidFill>
              <a:srgbClr val="38BDF8"/>
            </a:solidFill>
            <a:prstDash val="solid"/>
          </a:ln>
        </p:spPr>
      </p:sp>
      <p:sp>
        <p:nvSpPr>
          <p:cNvPr id="11" name="Text 8"/>
          <p:cNvSpPr/>
          <p:nvPr/>
        </p:nvSpPr>
        <p:spPr>
          <a:xfrm>
            <a:off x="8138160" y="1691640"/>
            <a:ext cx="3108960" cy="118872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₹8,690 CR
</a:t>
            </a:r>
            <a:pPr indent="0" marL="0">
              <a:buNone/>
            </a:pPr>
            <a:r>
              <a:rPr lang="en-US" sz="950" dirty="0">
                <a:solidFill>
                  <a:srgbClr val="F8FAFC"/>
                </a:solidFill>
                <a:latin typeface="Arial" pitchFamily="34" charset="0"/>
                <a:ea typeface="Arial" pitchFamily="34" charset="-122"/>
                <a:cs typeface="Arial" pitchFamily="34" charset="-120"/>
              </a:rPr>
              <a:t>Citizen capital saved via 1930 Golden Hour interventions</a:t>
            </a:r>
            <a:endParaRPr lang="en-US" sz="1800" dirty="0"/>
          </a:p>
        </p:txBody>
      </p:sp>
      <p:sp>
        <p:nvSpPr>
          <p:cNvPr id="12" name="Shape 9"/>
          <p:cNvSpPr/>
          <p:nvPr/>
        </p:nvSpPr>
        <p:spPr>
          <a:xfrm>
            <a:off x="731520" y="3291840"/>
            <a:ext cx="10698480" cy="2743200"/>
          </a:xfrm>
          <a:prstGeom prst="roundRect">
            <a:avLst>
              <a:gd name="adj" fmla="val 3333"/>
            </a:avLst>
          </a:prstGeom>
          <a:solidFill>
            <a:srgbClr val="0B1021"/>
          </a:solidFill>
          <a:ln w="12700">
            <a:solidFill>
              <a:srgbClr val="1E293B"/>
            </a:solidFill>
            <a:prstDash val="solid"/>
          </a:ln>
        </p:spPr>
      </p:sp>
      <p:sp>
        <p:nvSpPr>
          <p:cNvPr id="13" name="Text 10"/>
          <p:cNvSpPr/>
          <p:nvPr/>
        </p:nvSpPr>
        <p:spPr>
          <a:xfrm>
            <a:off x="914400" y="3429000"/>
            <a:ext cx="10332720" cy="246888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STATUTORY COMPLIANCE &amp; LEGAL ANCHORS
</a:t>
            </a:r>
            <a:pPr indent="0" marL="0">
              <a:buNone/>
            </a:pPr>
            <a:r>
              <a:rPr lang="en-US" sz="1000" b="1" dirty="0">
                <a:solidFill>
                  <a:srgbClr val="F8FAFC"/>
                </a:solidFill>
                <a:latin typeface="Arial" pitchFamily="34" charset="0"/>
                <a:ea typeface="Arial" pitchFamily="34" charset="-122"/>
                <a:cs typeface="Arial" pitchFamily="34" charset="-120"/>
              </a:rPr>
              <a:t>• Section 91 &amp; 102, Code of Criminal Procedure (CrPC): </a:t>
            </a:r>
            <a:pPr indent="0" marL="0">
              <a:buNone/>
            </a:pPr>
            <a:r>
              <a:rPr lang="en-US" sz="1000" dirty="0">
                <a:solidFill>
                  <a:srgbClr val="94A3B8"/>
                </a:solidFill>
                <a:latin typeface="Arial" pitchFamily="34" charset="0"/>
                <a:ea typeface="Arial" pitchFamily="34" charset="-122"/>
                <a:cs typeface="Arial" pitchFamily="34" charset="-120"/>
              </a:rPr>
              <a:t>Empowers police officers to demand immediate production of digital records and order precautionary holds on stolen property.
</a:t>
            </a:r>
            <a:pPr indent="0" marL="0">
              <a:buNone/>
            </a:pPr>
            <a:r>
              <a:rPr lang="en-US" sz="1000" b="1" dirty="0">
                <a:solidFill>
                  <a:srgbClr val="F8FAFC"/>
                </a:solidFill>
                <a:latin typeface="Arial" pitchFamily="34" charset="0"/>
                <a:ea typeface="Arial" pitchFamily="34" charset="-122"/>
                <a:cs typeface="Arial" pitchFamily="34" charset="-120"/>
              </a:rPr>
              <a:t>• CERT-In Cyber Security Directives (Sec 70B IT Act): </a:t>
            </a:r>
            <a:pPr indent="0" marL="0">
              <a:buNone/>
            </a:pPr>
            <a:r>
              <a:rPr lang="en-US" sz="1000" dirty="0">
                <a:solidFill>
                  <a:srgbClr val="94A3B8"/>
                </a:solidFill>
                <a:latin typeface="Arial" pitchFamily="34" charset="0"/>
                <a:ea typeface="Arial" pitchFamily="34" charset="-122"/>
                <a:cs typeface="Arial" pitchFamily="34" charset="-120"/>
              </a:rPr>
              <a:t>Statutory 6-hour reporting window for financial transaction compromises and rapid mitigation mandates.
</a:t>
            </a:r>
            <a:pPr indent="0" marL="0">
              <a:buNone/>
            </a:pPr>
            <a:r>
              <a:rPr lang="en-US" sz="1000" b="1" dirty="0">
                <a:solidFill>
                  <a:srgbClr val="F8FAFC"/>
                </a:solidFill>
                <a:latin typeface="Arial" pitchFamily="34" charset="0"/>
                <a:ea typeface="Arial" pitchFamily="34" charset="-122"/>
                <a:cs typeface="Arial" pitchFamily="34" charset="-120"/>
              </a:rPr>
              <a:t>• Citizen Financial Cyber Fraud Reporting System (CFCFRMS): </a:t>
            </a:r>
            <a:pPr indent="0" marL="0">
              <a:buNone/>
            </a:pPr>
            <a:r>
              <a:rPr lang="en-US" sz="1000" dirty="0">
                <a:solidFill>
                  <a:srgbClr val="94A3B8"/>
                </a:solidFill>
                <a:latin typeface="Arial" pitchFamily="34" charset="0"/>
                <a:ea typeface="Arial" pitchFamily="34" charset="-122"/>
                <a:cs typeface="Arial" pitchFamily="34" charset="-120"/>
              </a:rPr>
              <a:t>Official 1930 SOP for inter-bank transaction blocking during the active Golden Hour.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ENGINEERING &amp; SYSTEM ARCHITECTURE
</a:t>
            </a:r>
            <a:pPr indent="0" marL="0">
              <a:buNone/>
            </a:pPr>
            <a:r>
              <a:rPr lang="en-US" sz="2000" b="1" dirty="0">
                <a:solidFill>
                  <a:srgbClr val="F8FAFC"/>
                </a:solidFill>
                <a:latin typeface="Arial" pitchFamily="34" charset="0"/>
                <a:ea typeface="Arial" pitchFamily="34" charset="-122"/>
                <a:cs typeface="Arial" pitchFamily="34" charset="-120"/>
              </a:rPr>
              <a:t>Strict Segregation: Deterministic Forensic Engine + Agentic Synthesis Layer</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5 OF 12</a:t>
            </a:r>
            <a:endParaRPr lang="en-US" sz="850" dirty="0"/>
          </a:p>
        </p:txBody>
      </p:sp>
      <p:sp>
        <p:nvSpPr>
          <p:cNvPr id="6" name="Shape 3"/>
          <p:cNvSpPr/>
          <p:nvPr/>
        </p:nvSpPr>
        <p:spPr>
          <a:xfrm>
            <a:off x="731520" y="1554480"/>
            <a:ext cx="5257800" cy="4480560"/>
          </a:xfrm>
          <a:prstGeom prst="roundRect">
            <a:avLst>
              <a:gd name="adj" fmla="val 2041"/>
            </a:avLst>
          </a:prstGeom>
          <a:solidFill>
            <a:srgbClr val="0B1021"/>
          </a:solidFill>
          <a:ln w="19050">
            <a:solidFill>
              <a:srgbClr val="38BDF8"/>
            </a:solidFill>
            <a:prstDash val="solid"/>
          </a:ln>
        </p:spPr>
      </p:sp>
      <p:sp>
        <p:nvSpPr>
          <p:cNvPr id="7" name="Text 4"/>
          <p:cNvSpPr/>
          <p:nvPr/>
        </p:nvSpPr>
        <p:spPr>
          <a:xfrm>
            <a:off x="914400" y="1737360"/>
            <a:ext cx="4892040" cy="411480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DETERMINISTIC FORENSIC CORE (Pure Math / No LLM)
</a:t>
            </a:r>
            <a:pPr indent="0" marL="0">
              <a:buNone/>
            </a:pPr>
            <a:r>
              <a:rPr lang="en-US" sz="1000" b="1" dirty="0">
                <a:solidFill>
                  <a:srgbClr val="F8FAFC"/>
                </a:solidFill>
                <a:latin typeface="Arial" pitchFamily="34" charset="0"/>
                <a:ea typeface="Arial" pitchFamily="34" charset="-122"/>
                <a:cs typeface="Arial" pitchFamily="34" charset="-120"/>
              </a:rPr>
              <a:t>• NetworkX BFS Directed Multigraph Engine
</a:t>
            </a:r>
            <a:pPr indent="0" marL="0">
              <a:buNone/>
            </a:pPr>
            <a:r>
              <a:rPr lang="en-US" sz="950" dirty="0">
                <a:solidFill>
                  <a:srgbClr val="94A3B8"/>
                </a:solidFill>
                <a:latin typeface="Arial" pitchFamily="34" charset="0"/>
                <a:ea typeface="Arial" pitchFamily="34" charset="-122"/>
                <a:cs typeface="Arial" pitchFamily="34" charset="-120"/>
              </a:rPr>
              <a:t>Traverses cross-bank adjacency matrices locally in memory in &lt;15ms.
</a:t>
            </a:r>
            <a:pPr indent="0" marL="0">
              <a:buNone/>
            </a:pPr>
            <a:r>
              <a:rPr lang="en-US" sz="1000" b="1" dirty="0">
                <a:solidFill>
                  <a:srgbClr val="F8FAFC"/>
                </a:solidFill>
                <a:latin typeface="Arial" pitchFamily="34" charset="0"/>
                <a:ea typeface="Arial" pitchFamily="34" charset="-122"/>
                <a:cs typeface="Arial" pitchFamily="34" charset="-120"/>
              </a:rPr>
              <a:t>• SHA-256 Client-Side Anonymization
</a:t>
            </a:r>
            <a:pPr indent="0" marL="0">
              <a:buNone/>
            </a:pPr>
            <a:r>
              <a:rPr lang="en-US" sz="950" dirty="0">
                <a:solidFill>
                  <a:srgbClr val="94A3B8"/>
                </a:solidFill>
                <a:latin typeface="Arial" pitchFamily="34" charset="0"/>
                <a:ea typeface="Arial" pitchFamily="34" charset="-122"/>
                <a:cs typeface="Arial" pitchFamily="34" charset="-120"/>
              </a:rPr>
              <a:t>Hashes all PII (Account, Phone, UPI) at ingestion; zero clear-text leakage.
</a:t>
            </a:r>
            <a:pPr indent="0" marL="0">
              <a:buNone/>
            </a:pPr>
            <a:r>
              <a:rPr lang="en-US" sz="1000" b="1" dirty="0">
                <a:solidFill>
                  <a:srgbClr val="F8FAFC"/>
                </a:solidFill>
                <a:latin typeface="Arial" pitchFamily="34" charset="0"/>
                <a:ea typeface="Arial" pitchFamily="34" charset="-122"/>
                <a:cs typeface="Arial" pitchFamily="34" charset="-120"/>
              </a:rPr>
              <a:t>• Spatial Decay Softmax Solver
</a:t>
            </a:r>
            <a:pPr indent="0" marL="0">
              <a:buNone/>
            </a:pPr>
            <a:r>
              <a:rPr lang="en-US" sz="950" dirty="0">
                <a:solidFill>
                  <a:srgbClr val="94A3B8"/>
                </a:solidFill>
                <a:latin typeface="Arial" pitchFamily="34" charset="0"/>
                <a:ea typeface="Arial" pitchFamily="34" charset="-122"/>
                <a:cs typeface="Arial" pitchFamily="34" charset="-120"/>
              </a:rPr>
              <a:t>Calculates Haversine decay, liquidity balance, and velocity multipliers.</a:t>
            </a:r>
            <a:endParaRPr lang="en-US" sz="1100" dirty="0"/>
          </a:p>
        </p:txBody>
      </p:sp>
      <p:sp>
        <p:nvSpPr>
          <p:cNvPr id="8" name="Shape 5"/>
          <p:cNvSpPr/>
          <p:nvPr/>
        </p:nvSpPr>
        <p:spPr>
          <a:xfrm>
            <a:off x="6172200" y="1554480"/>
            <a:ext cx="5257800" cy="4480560"/>
          </a:xfrm>
          <a:prstGeom prst="roundRect">
            <a:avLst>
              <a:gd name="adj" fmla="val 2041"/>
            </a:avLst>
          </a:prstGeom>
          <a:solidFill>
            <a:srgbClr val="0B1021"/>
          </a:solidFill>
          <a:ln w="12700">
            <a:solidFill>
              <a:srgbClr val="1E293B"/>
            </a:solidFill>
            <a:prstDash val="solid"/>
          </a:ln>
        </p:spPr>
      </p:sp>
      <p:sp>
        <p:nvSpPr>
          <p:cNvPr id="9" name="Text 6"/>
          <p:cNvSpPr/>
          <p:nvPr/>
        </p:nvSpPr>
        <p:spPr>
          <a:xfrm>
            <a:off x="6355080" y="1737360"/>
            <a:ext cx="4892040" cy="4114800"/>
          </a:xfrm>
          <a:prstGeom prst="rect">
            <a:avLst/>
          </a:prstGeom>
          <a:noFill/>
          <a:ln/>
        </p:spPr>
        <p:txBody>
          <a:bodyPr wrap="square" lIns="0" tIns="0" rIns="0" bIns="0" rtlCol="0" anchor="ctr"/>
          <a:lstStyle/>
          <a:p>
            <a:pPr indent="0" marL="0">
              <a:buNone/>
            </a:pPr>
            <a:r>
              <a:rPr lang="en-US" sz="1100" b="1" dirty="0">
                <a:solidFill>
                  <a:srgbClr val="F8FAFC"/>
                </a:solidFill>
                <a:latin typeface="Arial" pitchFamily="34" charset="0"/>
                <a:ea typeface="Arial" pitchFamily="34" charset="-122"/>
                <a:cs typeface="Arial" pitchFamily="34" charset="-120"/>
              </a:rPr>
              <a:t>AGENTIC DECISION LAYER (Google Gemini 2.5 Flash)
</a:t>
            </a:r>
            <a:pPr indent="0" marL="0">
              <a:buNone/>
            </a:pPr>
            <a:r>
              <a:rPr lang="en-US" sz="1000" b="1" dirty="0">
                <a:solidFill>
                  <a:srgbClr val="38BDF8"/>
                </a:solidFill>
                <a:latin typeface="Arial" pitchFamily="34" charset="0"/>
                <a:ea typeface="Arial" pitchFamily="34" charset="-122"/>
                <a:cs typeface="Arial" pitchFamily="34" charset="-120"/>
              </a:rPr>
              <a:t>• Pydantic v2 Schema Enforcement
</a:t>
            </a:r>
            <a:pPr indent="0" marL="0">
              <a:buNone/>
            </a:pPr>
            <a:r>
              <a:rPr lang="en-US" sz="950" dirty="0">
                <a:solidFill>
                  <a:srgbClr val="94A3B8"/>
                </a:solidFill>
                <a:latin typeface="Arial" pitchFamily="34" charset="0"/>
                <a:ea typeface="Arial" pitchFamily="34" charset="-122"/>
                <a:cs typeface="Arial" pitchFamily="34" charset="-120"/>
              </a:rPr>
              <a:t>Forces LLM outputs into strict, typed JSON contracts (PoliceDispatchAlert).
</a:t>
            </a:r>
            <a:pPr indent="0" marL="0">
              <a:buNone/>
            </a:pPr>
            <a:r>
              <a:rPr lang="en-US" sz="1000" b="1" dirty="0">
                <a:solidFill>
                  <a:srgbClr val="38BDF8"/>
                </a:solidFill>
                <a:latin typeface="Arial" pitchFamily="34" charset="0"/>
                <a:ea typeface="Arial" pitchFamily="34" charset="-122"/>
                <a:cs typeface="Arial" pitchFamily="34" charset="-120"/>
              </a:rPr>
              <a:t>• Statutory Dispatch Order Generation
</a:t>
            </a:r>
            <a:pPr indent="0" marL="0">
              <a:buNone/>
            </a:pPr>
            <a:r>
              <a:rPr lang="en-US" sz="950" dirty="0">
                <a:solidFill>
                  <a:srgbClr val="94A3B8"/>
                </a:solidFill>
                <a:latin typeface="Arial" pitchFamily="34" charset="0"/>
                <a:ea typeface="Arial" pitchFamily="34" charset="-122"/>
                <a:cs typeface="Arial" pitchFamily="34" charset="-120"/>
              </a:rPr>
              <a:t>Synthesizes actionable Sec 91 CrPC notices for field PCR units.
</a:t>
            </a:r>
            <a:pPr indent="0" marL="0">
              <a:buNone/>
            </a:pPr>
            <a:r>
              <a:rPr lang="en-US" sz="1000" b="1" dirty="0">
                <a:solidFill>
                  <a:srgbClr val="38BDF8"/>
                </a:solidFill>
                <a:latin typeface="Arial" pitchFamily="34" charset="0"/>
                <a:ea typeface="Arial" pitchFamily="34" charset="-122"/>
                <a:cs typeface="Arial" pitchFamily="34" charset="-120"/>
              </a:rPr>
              <a:t>• Fail-Safe Execution
</a:t>
            </a:r>
            <a:pPr indent="0" marL="0">
              <a:buNone/>
            </a:pPr>
            <a:r>
              <a:rPr lang="en-US" sz="950" dirty="0">
                <a:solidFill>
                  <a:srgbClr val="94A3B8"/>
                </a:solidFill>
                <a:latin typeface="Arial" pitchFamily="34" charset="0"/>
                <a:ea typeface="Arial" pitchFamily="34" charset="-122"/>
                <a:cs typeface="Arial" pitchFamily="34" charset="-120"/>
              </a:rPr>
              <a:t>If external API drops, the deterministic engine runs uninterrupted.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FORENSIC METHODOLOGY
</a:t>
            </a:r>
            <a:pPr indent="0" marL="0">
              <a:buNone/>
            </a:pPr>
            <a:r>
              <a:rPr lang="en-US" sz="2000" b="1" dirty="0">
                <a:solidFill>
                  <a:srgbClr val="F8FAFC"/>
                </a:solidFill>
                <a:latin typeface="Arial" pitchFamily="34" charset="0"/>
                <a:ea typeface="Arial" pitchFamily="34" charset="-122"/>
                <a:cs typeface="Arial" pitchFamily="34" charset="-120"/>
              </a:rPr>
              <a:t>Reconstructing 5-Tier Directed Smurfing Networks in Memory</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6 OF 12</a:t>
            </a:r>
            <a:endParaRPr lang="en-US" sz="850" dirty="0"/>
          </a:p>
        </p:txBody>
      </p:sp>
      <p:sp>
        <p:nvSpPr>
          <p:cNvPr id="6" name="Shape 3"/>
          <p:cNvSpPr/>
          <p:nvPr/>
        </p:nvSpPr>
        <p:spPr>
          <a:xfrm>
            <a:off x="731520" y="1554480"/>
            <a:ext cx="10698480" cy="4480560"/>
          </a:xfrm>
          <a:prstGeom prst="roundRect">
            <a:avLst>
              <a:gd name="adj" fmla="val 2041"/>
            </a:avLst>
          </a:prstGeom>
          <a:solidFill>
            <a:srgbClr val="0B1021"/>
          </a:solidFill>
          <a:ln w="12700">
            <a:solidFill>
              <a:srgbClr val="1E293B"/>
            </a:solidFill>
            <a:prstDash val="solid"/>
          </a:ln>
        </p:spPr>
      </p:sp>
      <p:sp>
        <p:nvSpPr>
          <p:cNvPr id="7" name="Shape 4"/>
          <p:cNvSpPr/>
          <p:nvPr/>
        </p:nvSpPr>
        <p:spPr>
          <a:xfrm>
            <a:off x="1097280" y="3017520"/>
            <a:ext cx="1554480" cy="822960"/>
          </a:xfrm>
          <a:prstGeom prst="roundRect">
            <a:avLst>
              <a:gd name="adj" fmla="val 8889"/>
            </a:avLst>
          </a:prstGeom>
          <a:solidFill>
            <a:srgbClr val="06080F"/>
          </a:solidFill>
          <a:ln w="19050">
            <a:solidFill>
              <a:srgbClr val="EF4444"/>
            </a:solidFill>
            <a:prstDash val="solid"/>
          </a:ln>
        </p:spPr>
      </p:sp>
      <p:sp>
        <p:nvSpPr>
          <p:cNvPr id="8" name="Text 5"/>
          <p:cNvSpPr/>
          <p:nvPr/>
        </p:nvSpPr>
        <p:spPr>
          <a:xfrm>
            <a:off x="1097280" y="3108960"/>
            <a:ext cx="1554480" cy="64008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SOURCE VICTIM
</a:t>
            </a:r>
            <a:pPr algn="ctr" indent="0" marL="0">
              <a:buNone/>
            </a:pPr>
            <a:r>
              <a:rPr lang="en-US" sz="800" dirty="0">
                <a:solidFill>
                  <a:srgbClr val="F8FAFC"/>
                </a:solidFill>
                <a:latin typeface="Arial" pitchFamily="34" charset="0"/>
                <a:ea typeface="Arial" pitchFamily="34" charset="-122"/>
                <a:cs typeface="Arial" pitchFamily="34" charset="-120"/>
              </a:rPr>
              <a:t>₹8.50 Lakh Debit</a:t>
            </a:r>
            <a:endParaRPr lang="en-US" sz="850" dirty="0"/>
          </a:p>
        </p:txBody>
      </p:sp>
      <p:sp>
        <p:nvSpPr>
          <p:cNvPr id="9" name="Shape 6"/>
          <p:cNvSpPr/>
          <p:nvPr/>
        </p:nvSpPr>
        <p:spPr>
          <a:xfrm>
            <a:off x="3840480" y="1920240"/>
            <a:ext cx="1554480" cy="822960"/>
          </a:xfrm>
          <a:prstGeom prst="roundRect">
            <a:avLst>
              <a:gd name="adj" fmla="val 8889"/>
            </a:avLst>
          </a:prstGeom>
          <a:solidFill>
            <a:srgbClr val="06080F"/>
          </a:solidFill>
          <a:ln w="19050">
            <a:solidFill>
              <a:srgbClr val="F59E0B"/>
            </a:solidFill>
            <a:prstDash val="solid"/>
          </a:ln>
        </p:spPr>
      </p:sp>
      <p:sp>
        <p:nvSpPr>
          <p:cNvPr id="10" name="Text 7"/>
          <p:cNvSpPr/>
          <p:nvPr/>
        </p:nvSpPr>
        <p:spPr>
          <a:xfrm>
            <a:off x="3840480" y="2011680"/>
            <a:ext cx="1554480" cy="64008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MULE T1-01
</a:t>
            </a:r>
            <a:pPr algn="ctr" indent="0" marL="0">
              <a:buNone/>
            </a:pPr>
            <a:r>
              <a:rPr lang="en-US" sz="800" dirty="0">
                <a:solidFill>
                  <a:srgbClr val="F8FAFC"/>
                </a:solidFill>
                <a:latin typeface="Arial" pitchFamily="34" charset="0"/>
                <a:ea typeface="Arial" pitchFamily="34" charset="-122"/>
                <a:cs typeface="Arial" pitchFamily="34" charset="-120"/>
              </a:rPr>
              <a:t>₹2.83 Lakh (UPI)</a:t>
            </a:r>
            <a:endParaRPr lang="en-US" sz="850" dirty="0"/>
          </a:p>
        </p:txBody>
      </p:sp>
      <p:sp>
        <p:nvSpPr>
          <p:cNvPr id="11" name="Shape 8"/>
          <p:cNvSpPr/>
          <p:nvPr/>
        </p:nvSpPr>
        <p:spPr>
          <a:xfrm>
            <a:off x="3840480" y="3017520"/>
            <a:ext cx="1554480" cy="822960"/>
          </a:xfrm>
          <a:prstGeom prst="roundRect">
            <a:avLst>
              <a:gd name="adj" fmla="val 8889"/>
            </a:avLst>
          </a:prstGeom>
          <a:solidFill>
            <a:srgbClr val="06080F"/>
          </a:solidFill>
          <a:ln w="19050">
            <a:solidFill>
              <a:srgbClr val="F59E0B"/>
            </a:solidFill>
            <a:prstDash val="solid"/>
          </a:ln>
        </p:spPr>
      </p:sp>
      <p:sp>
        <p:nvSpPr>
          <p:cNvPr id="12" name="Text 9"/>
          <p:cNvSpPr/>
          <p:nvPr/>
        </p:nvSpPr>
        <p:spPr>
          <a:xfrm>
            <a:off x="3840480" y="3108960"/>
            <a:ext cx="1554480" cy="64008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MULE T1-02
</a:t>
            </a:r>
            <a:pPr algn="ctr" indent="0" marL="0">
              <a:buNone/>
            </a:pPr>
            <a:r>
              <a:rPr lang="en-US" sz="800" dirty="0">
                <a:solidFill>
                  <a:srgbClr val="F8FAFC"/>
                </a:solidFill>
                <a:latin typeface="Arial" pitchFamily="34" charset="0"/>
                <a:ea typeface="Arial" pitchFamily="34" charset="-122"/>
                <a:cs typeface="Arial" pitchFamily="34" charset="-120"/>
              </a:rPr>
              <a:t>₹2.83 Lakh (UPI)</a:t>
            </a:r>
            <a:endParaRPr lang="en-US" sz="850" dirty="0"/>
          </a:p>
        </p:txBody>
      </p:sp>
      <p:sp>
        <p:nvSpPr>
          <p:cNvPr id="13" name="Shape 10"/>
          <p:cNvSpPr/>
          <p:nvPr/>
        </p:nvSpPr>
        <p:spPr>
          <a:xfrm>
            <a:off x="3840480" y="4114800"/>
            <a:ext cx="1554480" cy="822960"/>
          </a:xfrm>
          <a:prstGeom prst="roundRect">
            <a:avLst>
              <a:gd name="adj" fmla="val 8889"/>
            </a:avLst>
          </a:prstGeom>
          <a:solidFill>
            <a:srgbClr val="06080F"/>
          </a:solidFill>
          <a:ln w="19050">
            <a:solidFill>
              <a:srgbClr val="F59E0B"/>
            </a:solidFill>
            <a:prstDash val="solid"/>
          </a:ln>
        </p:spPr>
      </p:sp>
      <p:sp>
        <p:nvSpPr>
          <p:cNvPr id="14" name="Text 11"/>
          <p:cNvSpPr/>
          <p:nvPr/>
        </p:nvSpPr>
        <p:spPr>
          <a:xfrm>
            <a:off x="3840480" y="4206240"/>
            <a:ext cx="1554480" cy="64008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MULE T1-03
</a:t>
            </a:r>
            <a:pPr algn="ctr" indent="0" marL="0">
              <a:buNone/>
            </a:pPr>
            <a:r>
              <a:rPr lang="en-US" sz="800" dirty="0">
                <a:solidFill>
                  <a:srgbClr val="F8FAFC"/>
                </a:solidFill>
                <a:latin typeface="Arial" pitchFamily="34" charset="0"/>
                <a:ea typeface="Arial" pitchFamily="34" charset="-122"/>
                <a:cs typeface="Arial" pitchFamily="34" charset="-120"/>
              </a:rPr>
              <a:t>₹2.83 Lakh (UPI)</a:t>
            </a:r>
            <a:endParaRPr lang="en-US" sz="850" dirty="0"/>
          </a:p>
        </p:txBody>
      </p:sp>
      <p:sp>
        <p:nvSpPr>
          <p:cNvPr id="15" name="Shape 12"/>
          <p:cNvSpPr/>
          <p:nvPr/>
        </p:nvSpPr>
        <p:spPr>
          <a:xfrm>
            <a:off x="6766560" y="2468880"/>
            <a:ext cx="1554480" cy="822960"/>
          </a:xfrm>
          <a:prstGeom prst="roundRect">
            <a:avLst>
              <a:gd name="adj" fmla="val 8889"/>
            </a:avLst>
          </a:prstGeom>
          <a:solidFill>
            <a:srgbClr val="06080F"/>
          </a:solidFill>
          <a:ln w="19050">
            <a:solidFill>
              <a:srgbClr val="2563EB"/>
            </a:solidFill>
            <a:prstDash val="solid"/>
          </a:ln>
        </p:spPr>
      </p:sp>
      <p:sp>
        <p:nvSpPr>
          <p:cNvPr id="16" name="Text 13"/>
          <p:cNvSpPr/>
          <p:nvPr/>
        </p:nvSpPr>
        <p:spPr>
          <a:xfrm>
            <a:off x="6766560" y="2560320"/>
            <a:ext cx="1554480" cy="640080"/>
          </a:xfrm>
          <a:prstGeom prst="rect">
            <a:avLst/>
          </a:prstGeom>
          <a:noFill/>
          <a:ln/>
        </p:spPr>
        <p:txBody>
          <a:bodyPr wrap="square" rtlCol="0" anchor="ctr"/>
          <a:lstStyle/>
          <a:p>
            <a:pPr algn="ctr" indent="0" marL="0">
              <a:buNone/>
            </a:pPr>
            <a:r>
              <a:rPr lang="en-US" sz="850" b="1" dirty="0">
                <a:solidFill>
                  <a:srgbClr val="2563EB"/>
                </a:solidFill>
                <a:latin typeface="Arial" pitchFamily="34" charset="0"/>
                <a:ea typeface="Arial" pitchFamily="34" charset="-122"/>
                <a:cs typeface="Arial" pitchFamily="34" charset="-120"/>
              </a:rPr>
              <a:t>MULE T2-01
</a:t>
            </a:r>
            <a:pPr algn="ctr" indent="0" marL="0">
              <a:buNone/>
            </a:pPr>
            <a:r>
              <a:rPr lang="en-US" sz="800" dirty="0">
                <a:solidFill>
                  <a:srgbClr val="F8FAFC"/>
                </a:solidFill>
                <a:latin typeface="Arial" pitchFamily="34" charset="0"/>
                <a:ea typeface="Arial" pitchFamily="34" charset="-122"/>
                <a:cs typeface="Arial" pitchFamily="34" charset="-120"/>
              </a:rPr>
              <a:t>₹4.16 Lakh (IMPS)</a:t>
            </a:r>
            <a:endParaRPr lang="en-US" sz="850" dirty="0"/>
          </a:p>
        </p:txBody>
      </p:sp>
      <p:sp>
        <p:nvSpPr>
          <p:cNvPr id="17" name="Shape 14"/>
          <p:cNvSpPr/>
          <p:nvPr/>
        </p:nvSpPr>
        <p:spPr>
          <a:xfrm>
            <a:off x="6766560" y="3566160"/>
            <a:ext cx="1554480" cy="822960"/>
          </a:xfrm>
          <a:prstGeom prst="roundRect">
            <a:avLst>
              <a:gd name="adj" fmla="val 8889"/>
            </a:avLst>
          </a:prstGeom>
          <a:solidFill>
            <a:srgbClr val="06080F"/>
          </a:solidFill>
          <a:ln w="19050">
            <a:solidFill>
              <a:srgbClr val="2563EB"/>
            </a:solidFill>
            <a:prstDash val="solid"/>
          </a:ln>
        </p:spPr>
      </p:sp>
      <p:sp>
        <p:nvSpPr>
          <p:cNvPr id="18" name="Text 15"/>
          <p:cNvSpPr/>
          <p:nvPr/>
        </p:nvSpPr>
        <p:spPr>
          <a:xfrm>
            <a:off x="6766560" y="3657600"/>
            <a:ext cx="1554480" cy="640080"/>
          </a:xfrm>
          <a:prstGeom prst="rect">
            <a:avLst/>
          </a:prstGeom>
          <a:noFill/>
          <a:ln/>
        </p:spPr>
        <p:txBody>
          <a:bodyPr wrap="square" rtlCol="0" anchor="ctr"/>
          <a:lstStyle/>
          <a:p>
            <a:pPr algn="ctr" indent="0" marL="0">
              <a:buNone/>
            </a:pPr>
            <a:r>
              <a:rPr lang="en-US" sz="850" b="1" dirty="0">
                <a:solidFill>
                  <a:srgbClr val="2563EB"/>
                </a:solidFill>
                <a:latin typeface="Arial" pitchFamily="34" charset="0"/>
                <a:ea typeface="Arial" pitchFamily="34" charset="-122"/>
                <a:cs typeface="Arial" pitchFamily="34" charset="-120"/>
              </a:rPr>
              <a:t>MULE T2-02
</a:t>
            </a:r>
            <a:pPr algn="ctr" indent="0" marL="0">
              <a:buNone/>
            </a:pPr>
            <a:r>
              <a:rPr lang="en-US" sz="800" dirty="0">
                <a:solidFill>
                  <a:srgbClr val="F8FAFC"/>
                </a:solidFill>
                <a:latin typeface="Arial" pitchFamily="34" charset="0"/>
                <a:ea typeface="Arial" pitchFamily="34" charset="-122"/>
                <a:cs typeface="Arial" pitchFamily="34" charset="-120"/>
              </a:rPr>
              <a:t>₹4.16 Lakh (IMPS)</a:t>
            </a:r>
            <a:endParaRPr lang="en-US" sz="850" dirty="0"/>
          </a:p>
        </p:txBody>
      </p:sp>
      <p:sp>
        <p:nvSpPr>
          <p:cNvPr id="19" name="Shape 16"/>
          <p:cNvSpPr/>
          <p:nvPr/>
        </p:nvSpPr>
        <p:spPr>
          <a:xfrm>
            <a:off x="9509760" y="3017520"/>
            <a:ext cx="1554480" cy="822960"/>
          </a:xfrm>
          <a:prstGeom prst="roundRect">
            <a:avLst>
              <a:gd name="adj" fmla="val 8889"/>
            </a:avLst>
          </a:prstGeom>
          <a:solidFill>
            <a:srgbClr val="06080F"/>
          </a:solidFill>
          <a:ln w="19050">
            <a:solidFill>
              <a:srgbClr val="EF4444"/>
            </a:solidFill>
            <a:prstDash val="solid"/>
          </a:ln>
        </p:spPr>
      </p:sp>
      <p:sp>
        <p:nvSpPr>
          <p:cNvPr id="20" name="Text 17"/>
          <p:cNvSpPr/>
          <p:nvPr/>
        </p:nvSpPr>
        <p:spPr>
          <a:xfrm>
            <a:off x="9509760" y="3108960"/>
            <a:ext cx="1554480" cy="64008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TARGET ATM
</a:t>
            </a:r>
            <a:pPr algn="ctr" indent="0" marL="0">
              <a:buNone/>
            </a:pPr>
            <a:r>
              <a:rPr lang="en-US" sz="800" dirty="0">
                <a:solidFill>
                  <a:srgbClr val="F8FAFC"/>
                </a:solidFill>
                <a:latin typeface="Arial" pitchFamily="34" charset="0"/>
                <a:ea typeface="Arial" pitchFamily="34" charset="-122"/>
                <a:cs typeface="Arial" pitchFamily="34" charset="-120"/>
              </a:rPr>
              <a:t>ATM-IN-DEL-009</a:t>
            </a:r>
            <a:endParaRPr lang="en-US" sz="850" dirty="0"/>
          </a:p>
        </p:txBody>
      </p:sp>
      <p:sp>
        <p:nvSpPr>
          <p:cNvPr id="21" name="Text 18"/>
          <p:cNvSpPr/>
          <p:nvPr/>
        </p:nvSpPr>
        <p:spPr>
          <a:xfrm>
            <a:off x="914400" y="5394960"/>
            <a:ext cx="10332720" cy="365760"/>
          </a:xfrm>
          <a:prstGeom prst="rect">
            <a:avLst/>
          </a:prstGeom>
          <a:noFill/>
          <a:ln/>
        </p:spPr>
        <p:txBody>
          <a:bodyPr wrap="square"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TOPOLOGICAL METRICS: Traversal Latency: 8.42ms | Fan-Out/Fan-In Symmetry: 1 -&gt; 3 -&gt; 2 -&gt; 1 | Transit Delta: 180s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SPATIAL PROBABILITY MODELING
</a:t>
            </a:r>
            <a:pPr indent="0" marL="0">
              <a:buNone/>
            </a:pPr>
            <a:r>
              <a:rPr lang="en-US" sz="2000" b="1" dirty="0">
                <a:solidFill>
                  <a:srgbClr val="F8FAFC"/>
                </a:solidFill>
                <a:latin typeface="Arial" pitchFamily="34" charset="0"/>
                <a:ea typeface="Arial" pitchFamily="34" charset="-122"/>
                <a:cs typeface="Arial" pitchFamily="34" charset="-120"/>
              </a:rPr>
              <a:t>Multi-Factor Spatial Decay &amp; Softmax Probability Allocation</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7 OF 12</a:t>
            </a:r>
            <a:endParaRPr lang="en-US" sz="850" dirty="0"/>
          </a:p>
        </p:txBody>
      </p:sp>
      <p:sp>
        <p:nvSpPr>
          <p:cNvPr id="6" name="Shape 3"/>
          <p:cNvSpPr/>
          <p:nvPr/>
        </p:nvSpPr>
        <p:spPr>
          <a:xfrm>
            <a:off x="731520" y="1554480"/>
            <a:ext cx="10698480" cy="1188720"/>
          </a:xfrm>
          <a:prstGeom prst="roundRect">
            <a:avLst>
              <a:gd name="adj" fmla="val 7692"/>
            </a:avLst>
          </a:prstGeom>
          <a:solidFill>
            <a:srgbClr val="0B1021"/>
          </a:solidFill>
          <a:ln w="12700">
            <a:solidFill>
              <a:srgbClr val="38BDF8"/>
            </a:solidFill>
            <a:prstDash val="solid"/>
          </a:ln>
        </p:spPr>
      </p:sp>
      <p:sp>
        <p:nvSpPr>
          <p:cNvPr id="7" name="Text 4"/>
          <p:cNvSpPr/>
          <p:nvPr/>
        </p:nvSpPr>
        <p:spPr>
          <a:xfrm>
            <a:off x="914400" y="1645920"/>
            <a:ext cx="10332720" cy="1005840"/>
          </a:xfrm>
          <a:prstGeom prst="rect">
            <a:avLst/>
          </a:prstGeom>
          <a:noFill/>
          <a:ln/>
        </p:spPr>
        <p:txBody>
          <a:bodyPr wrap="square" lIns="0" tIns="0" rIns="0" bIns="0" rtlCol="0" anchor="ctr"/>
          <a:lstStyle/>
          <a:p>
            <a:pPr indent="0" marL="0">
              <a:buNone/>
            </a:pPr>
            <a:r>
              <a:rPr lang="en-US" sz="1000" b="1" dirty="0">
                <a:solidFill>
                  <a:srgbClr val="38BDF8"/>
                </a:solidFill>
              </a:rPr>
              <a:t>MATHEMATICAL SCORING FORMULATION:
</a:t>
            </a:r>
            <a:pPr indent="0" marL="0">
              <a:buNone/>
            </a:pPr>
            <a:r>
              <a:rPr lang="en-US" sz="950" dirty="0">
                <a:solidFill>
                  <a:srgbClr val="F8FAFC"/>
                </a:solidFill>
                <a:latin typeface="Courier New" pitchFamily="34" charset="0"/>
                <a:ea typeface="Courier New" pitchFamily="34" charset="-122"/>
                <a:cs typeface="Courier New" pitchFamily="34" charset="-120"/>
              </a:rPr>
              <a:t>Raw Score S_i = [ 1 / (Dist_km)^1.2 ] * [ Liquidity_INR / Max_Cap ] * [ 1 + (0.15 * Vel_w) ]
</a:t>
            </a:r>
            <a:pPr indent="0" marL="0">
              <a:buNone/>
            </a:pPr>
            <a:r>
              <a:rPr lang="en-US" sz="950" dirty="0">
                <a:solidFill>
                  <a:srgbClr val="F8FAFC"/>
                </a:solidFill>
                <a:latin typeface="Courier New" pitchFamily="34" charset="0"/>
                <a:ea typeface="Courier New" pitchFamily="34" charset="-122"/>
                <a:cs typeface="Courier New" pitchFamily="34" charset="-120"/>
              </a:rPr>
              <a:t>Probability P(ATM_i) = exp(S_i - max(S)) / Σ exp(S_j - max(S))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10698480" cy="914400"/>
        </p:xfrm>
        <a:graphic>
          <a:graphicData uri="http://schemas.openxmlformats.org/drawingml/2006/table">
            <a:tbl>
              <a:tblPr/>
              <a:tblGrid>
                <a:gridCol w="1528354"/>
                <a:gridCol w="1528354"/>
                <a:gridCol w="1528354"/>
                <a:gridCol w="1528354"/>
                <a:gridCol w="1528354"/>
                <a:gridCol w="1528354"/>
                <a:gridCol w="1528354"/>
              </a:tblGrid>
              <a:tr h="0">
                <a:tc>
                  <a:txBody>
                    <a:bodyPr/>
                    <a:lstStyle/>
                    <a:p>
                      <a:pPr indent="0" marL="0">
                        <a:buNone/>
                      </a:pPr>
                      <a:r>
                        <a:rPr lang="en-US" sz="950" b="1" dirty="0">
                          <a:solidFill>
                            <a:srgbClr val="38BDF8"/>
                          </a:solidFill>
                        </a:rPr>
                        <a:t>TERMINAL ID</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BANK</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DISTANCE</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LIQUIDITY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VELOCITY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PROBABILITY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38BDF8"/>
                          </a:solidFill>
                        </a:rPr>
                        <a:t>STATUS</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r>
              <a:tr h="0">
                <a:tc>
                  <a:txBody>
                    <a:bodyPr/>
                    <a:lstStyle/>
                    <a:p>
                      <a:pPr indent="0" marL="0">
                        <a:buNone/>
                      </a:pPr>
                      <a:r>
                        <a:rPr lang="en-US" sz="950" dirty="0">
                          <a:solidFill>
                            <a:srgbClr val="F8FAFC"/>
                          </a:solidFill>
                        </a:rPr>
                        <a:t>ATM-IN-DEL-009</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AXIS</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0.84 km</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₹20.90 Lakh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4.4 tx/hr</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88.2%</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TARGET LOCKED</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ATM-IN-DEL-003</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ICICI</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1.42 km</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₹18.30 Lakh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2.1 tx/hr</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6.4%</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MONITOR</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ATM-IN-DEL-001</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PNB</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2.10 km</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₹10.20 Lakh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0.9 tx/hr</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3.1%</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STANDBY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ATM-IN-DEL-012</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SBI</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3.45 km</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₹21.80 Lakh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1.2 tx/hr</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2.3%</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STANDBY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OPERATIONAL PROTOTYPE
</a:t>
            </a:r>
            <a:pPr indent="0" marL="0">
              <a:buNone/>
            </a:pPr>
            <a:r>
              <a:rPr lang="en-US" sz="2000" b="1" dirty="0">
                <a:solidFill>
                  <a:srgbClr val="F8FAFC"/>
                </a:solidFill>
                <a:latin typeface="Arial" pitchFamily="34" charset="0"/>
                <a:ea typeface="Arial" pitchFamily="34" charset="-122"/>
                <a:cs typeface="Arial" pitchFamily="34" charset="-120"/>
              </a:rPr>
              <a:t>Real-Time Tactical Command Console for Law Enforcement Operations</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8 OF 12</a:t>
            </a:r>
            <a:endParaRPr lang="en-US" sz="850" dirty="0"/>
          </a:p>
        </p:txBody>
      </p:sp>
      <p:sp>
        <p:nvSpPr>
          <p:cNvPr id="6" name="Shape 3"/>
          <p:cNvSpPr/>
          <p:nvPr/>
        </p:nvSpPr>
        <p:spPr>
          <a:xfrm>
            <a:off x="731520" y="1554480"/>
            <a:ext cx="2560320" cy="822960"/>
          </a:xfrm>
          <a:prstGeom prst="roundRect">
            <a:avLst>
              <a:gd name="adj" fmla="val 8889"/>
            </a:avLst>
          </a:prstGeom>
          <a:solidFill>
            <a:srgbClr val="0B1021"/>
          </a:solidFill>
          <a:ln w="12700">
            <a:solidFill>
              <a:srgbClr val="1E293B"/>
            </a:solidFill>
            <a:prstDash val="solid"/>
          </a:ln>
        </p:spPr>
      </p:sp>
      <p:sp>
        <p:nvSpPr>
          <p:cNvPr id="7" name="Text 4"/>
          <p:cNvSpPr/>
          <p:nvPr/>
        </p:nvSpPr>
        <p:spPr>
          <a:xfrm>
            <a:off x="822960" y="1600200"/>
            <a:ext cx="2377440" cy="7315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FRAUD CASES INGESTED
</a:t>
            </a:r>
            <a:pPr indent="0" marL="0">
              <a:buNone/>
            </a:pPr>
            <a:r>
              <a:rPr lang="en-US" sz="1200" b="1" dirty="0">
                <a:solidFill>
                  <a:srgbClr val="38BDF8"/>
                </a:solidFill>
                <a:latin typeface="Arial" pitchFamily="34" charset="0"/>
                <a:ea typeface="Arial" pitchFamily="34" charset="-122"/>
                <a:cs typeface="Arial" pitchFamily="34" charset="-120"/>
              </a:rPr>
              <a:t>127 Today</a:t>
            </a:r>
            <a:endParaRPr lang="en-US" sz="800" dirty="0"/>
          </a:p>
        </p:txBody>
      </p:sp>
      <p:sp>
        <p:nvSpPr>
          <p:cNvPr id="8" name="Shape 5"/>
          <p:cNvSpPr/>
          <p:nvPr/>
        </p:nvSpPr>
        <p:spPr>
          <a:xfrm>
            <a:off x="3429000" y="1554480"/>
            <a:ext cx="2560320" cy="822960"/>
          </a:xfrm>
          <a:prstGeom prst="roundRect">
            <a:avLst>
              <a:gd name="adj" fmla="val 8889"/>
            </a:avLst>
          </a:prstGeom>
          <a:solidFill>
            <a:srgbClr val="0B1021"/>
          </a:solidFill>
          <a:ln w="12700">
            <a:solidFill>
              <a:srgbClr val="1E293B"/>
            </a:solidFill>
            <a:prstDash val="solid"/>
          </a:ln>
        </p:spPr>
      </p:sp>
      <p:sp>
        <p:nvSpPr>
          <p:cNvPr id="9" name="Text 6"/>
          <p:cNvSpPr/>
          <p:nvPr/>
        </p:nvSpPr>
        <p:spPr>
          <a:xfrm>
            <a:off x="3520440" y="1600200"/>
            <a:ext cx="2377440" cy="7315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ESTIMATED FUNDS RECOVERABLE
</a:t>
            </a:r>
            <a:pPr indent="0" marL="0">
              <a:buNone/>
            </a:pPr>
            <a:r>
              <a:rPr lang="en-US" sz="1200" b="1" dirty="0">
                <a:solidFill>
                  <a:srgbClr val="38BDF8"/>
                </a:solidFill>
                <a:latin typeface="Arial" pitchFamily="34" charset="0"/>
                <a:ea typeface="Arial" pitchFamily="34" charset="-122"/>
                <a:cs typeface="Arial" pitchFamily="34" charset="-120"/>
              </a:rPr>
              <a:t>₹2.34 Cr</a:t>
            </a:r>
            <a:endParaRPr lang="en-US" sz="800" dirty="0"/>
          </a:p>
        </p:txBody>
      </p:sp>
      <p:sp>
        <p:nvSpPr>
          <p:cNvPr id="10" name="Shape 7"/>
          <p:cNvSpPr/>
          <p:nvPr/>
        </p:nvSpPr>
        <p:spPr>
          <a:xfrm>
            <a:off x="6126480" y="1554480"/>
            <a:ext cx="2560320" cy="822960"/>
          </a:xfrm>
          <a:prstGeom prst="roundRect">
            <a:avLst>
              <a:gd name="adj" fmla="val 8889"/>
            </a:avLst>
          </a:prstGeom>
          <a:solidFill>
            <a:srgbClr val="0B1021"/>
          </a:solidFill>
          <a:ln w="12700">
            <a:solidFill>
              <a:srgbClr val="1E293B"/>
            </a:solidFill>
            <a:prstDash val="solid"/>
          </a:ln>
        </p:spPr>
      </p:sp>
      <p:sp>
        <p:nvSpPr>
          <p:cNvPr id="11" name="Text 8"/>
          <p:cNvSpPr/>
          <p:nvPr/>
        </p:nvSpPr>
        <p:spPr>
          <a:xfrm>
            <a:off x="6217920" y="1600200"/>
            <a:ext cx="2377440" cy="7315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AVG TRAVERSAL LATENCY
</a:t>
            </a:r>
            <a:pPr indent="0" marL="0">
              <a:buNone/>
            </a:pPr>
            <a:r>
              <a:rPr lang="en-US" sz="1200" b="1" dirty="0">
                <a:solidFill>
                  <a:srgbClr val="38BDF8"/>
                </a:solidFill>
                <a:latin typeface="Arial" pitchFamily="34" charset="0"/>
                <a:ea typeface="Arial" pitchFamily="34" charset="-122"/>
                <a:cs typeface="Arial" pitchFamily="34" charset="-120"/>
              </a:rPr>
              <a:t>&lt; 15 ms</a:t>
            </a:r>
            <a:endParaRPr lang="en-US" sz="800" dirty="0"/>
          </a:p>
        </p:txBody>
      </p:sp>
      <p:sp>
        <p:nvSpPr>
          <p:cNvPr id="12" name="Shape 9"/>
          <p:cNvSpPr/>
          <p:nvPr/>
        </p:nvSpPr>
        <p:spPr>
          <a:xfrm>
            <a:off x="8823960" y="1554480"/>
            <a:ext cx="2560320" cy="822960"/>
          </a:xfrm>
          <a:prstGeom prst="roundRect">
            <a:avLst>
              <a:gd name="adj" fmla="val 8889"/>
            </a:avLst>
          </a:prstGeom>
          <a:solidFill>
            <a:srgbClr val="0B1021"/>
          </a:solidFill>
          <a:ln w="12700">
            <a:solidFill>
              <a:srgbClr val="1E293B"/>
            </a:solidFill>
            <a:prstDash val="solid"/>
          </a:ln>
        </p:spPr>
      </p:sp>
      <p:sp>
        <p:nvSpPr>
          <p:cNvPr id="13" name="Text 10"/>
          <p:cNvSpPr/>
          <p:nvPr/>
        </p:nvSpPr>
        <p:spPr>
          <a:xfrm>
            <a:off x="8915400" y="1600200"/>
            <a:ext cx="2377440" cy="7315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MULE ACCOUNTS ISOLATED
</a:t>
            </a:r>
            <a:pPr indent="0" marL="0">
              <a:buNone/>
            </a:pPr>
            <a:r>
              <a:rPr lang="en-US" sz="1200" b="1" dirty="0">
                <a:solidFill>
                  <a:srgbClr val="38BDF8"/>
                </a:solidFill>
                <a:latin typeface="Arial" pitchFamily="34" charset="0"/>
                <a:ea typeface="Arial" pitchFamily="34" charset="-122"/>
                <a:cs typeface="Arial" pitchFamily="34" charset="-120"/>
              </a:rPr>
              <a:t>61 Layered</a:t>
            </a:r>
            <a:endParaRPr lang="en-US" sz="800" dirty="0"/>
          </a:p>
        </p:txBody>
      </p:sp>
      <p:sp>
        <p:nvSpPr>
          <p:cNvPr id="14" name="Shape 11"/>
          <p:cNvSpPr/>
          <p:nvPr/>
        </p:nvSpPr>
        <p:spPr>
          <a:xfrm>
            <a:off x="731520" y="2560320"/>
            <a:ext cx="5257800" cy="3474720"/>
          </a:xfrm>
          <a:prstGeom prst="roundRect">
            <a:avLst>
              <a:gd name="adj" fmla="val 2632"/>
            </a:avLst>
          </a:prstGeom>
          <a:solidFill>
            <a:srgbClr val="0B1021"/>
          </a:solidFill>
          <a:ln w="12700">
            <a:solidFill>
              <a:srgbClr val="EF4444"/>
            </a:solidFill>
            <a:prstDash val="solid"/>
          </a:ln>
        </p:spPr>
      </p:sp>
      <p:sp>
        <p:nvSpPr>
          <p:cNvPr id="15" name="Text 12"/>
          <p:cNvSpPr/>
          <p:nvPr/>
        </p:nvSpPr>
        <p:spPr>
          <a:xfrm>
            <a:off x="914400" y="2697480"/>
            <a:ext cx="4892040" cy="3200400"/>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SIMULATOR &amp; AI DECISION DOSSIER
</a:t>
            </a:r>
            <a:pPr indent="0" marL="0">
              <a:buNone/>
            </a:pPr>
            <a:r>
              <a:rPr lang="en-US" sz="900" dirty="0">
                <a:solidFill>
                  <a:srgbClr val="F8FAFC"/>
                </a:solidFill>
                <a:latin typeface="Arial" pitchFamily="34" charset="0"/>
                <a:ea typeface="Arial" pitchFamily="34" charset="-122"/>
                <a:cs typeface="Arial" pitchFamily="34" charset="-120"/>
              </a:rPr>
              <a:t>• FIR ID: FIR-2026-DEL-1027 (₹8.50 Lakh Loss)
</a:t>
            </a:r>
            <a:pPr indent="0" marL="0">
              <a:buNone/>
            </a:pPr>
            <a:r>
              <a:rPr lang="en-US" sz="900" dirty="0">
                <a:solidFill>
                  <a:srgbClr val="FBBF24"/>
                </a:solidFill>
                <a:latin typeface="Arial" pitchFamily="34" charset="0"/>
                <a:ea typeface="Arial" pitchFamily="34" charset="-122"/>
                <a:cs typeface="Arial" pitchFamily="34" charset="-120"/>
              </a:rPr>
              <a:t>• Golden Intercept Window: 11:42 mins (Ticking Countdown)
</a:t>
            </a:r>
            <a:pPr indent="0" marL="0">
              <a:buNone/>
            </a:pPr>
            <a:r>
              <a:rPr lang="en-US" sz="900" dirty="0">
                <a:solidFill>
                  <a:srgbClr val="10B981"/>
                </a:solidFill>
                <a:latin typeface="Arial" pitchFamily="34" charset="0"/>
                <a:ea typeface="Arial" pitchFamily="34" charset="-122"/>
                <a:cs typeface="Arial" pitchFamily="34" charset="-120"/>
              </a:rPr>
              <a:t>• Multi-Factor Confidence Score: 88%
</a:t>
            </a:r>
            <a:pPr indent="0" marL="0">
              <a:buNone/>
            </a:pPr>
            <a:r>
              <a:rPr lang="en-US" sz="850" dirty="0">
                <a:solidFill>
                  <a:srgbClr val="94A3B8"/>
                </a:solidFill>
                <a:latin typeface="Arial" pitchFamily="34" charset="0"/>
                <a:ea typeface="Arial" pitchFamily="34" charset="-122"/>
                <a:cs typeface="Arial" pitchFamily="34" charset="-120"/>
              </a:rPr>
              <a:t>  - Velocity: 92% | Graph Pattern: 85% | Proximity: 90%
</a:t>
            </a:r>
            <a:pPr indent="0" marL="0">
              <a:buNone/>
            </a:pPr>
            <a:r>
              <a:rPr lang="en-US" sz="900" b="1" dirty="0">
                <a:solidFill>
                  <a:srgbClr val="38BDF8"/>
                </a:solidFill>
                <a:latin typeface="Arial" pitchFamily="34" charset="0"/>
                <a:ea typeface="Arial" pitchFamily="34" charset="-122"/>
                <a:cs typeface="Arial" pitchFamily="34" charset="-120"/>
              </a:rPr>
              <a:t>• Automated Freeze: Sec 91 CrPC Webhook Dispatched</a:t>
            </a:r>
            <a:endParaRPr lang="en-US" sz="1000" dirty="0"/>
          </a:p>
        </p:txBody>
      </p:sp>
      <p:sp>
        <p:nvSpPr>
          <p:cNvPr id="16" name="Shape 13"/>
          <p:cNvSpPr/>
          <p:nvPr/>
        </p:nvSpPr>
        <p:spPr>
          <a:xfrm>
            <a:off x="6172200" y="2560320"/>
            <a:ext cx="5257800" cy="3474720"/>
          </a:xfrm>
          <a:prstGeom prst="roundRect">
            <a:avLst>
              <a:gd name="adj" fmla="val 2632"/>
            </a:avLst>
          </a:prstGeom>
          <a:solidFill>
            <a:srgbClr val="0B1021"/>
          </a:solidFill>
          <a:ln w="12700">
            <a:solidFill>
              <a:srgbClr val="1E293B"/>
            </a:solidFill>
            <a:prstDash val="solid"/>
          </a:ln>
        </p:spPr>
      </p:sp>
      <p:sp>
        <p:nvSpPr>
          <p:cNvPr id="17" name="Text 14"/>
          <p:cNvSpPr/>
          <p:nvPr/>
        </p:nvSpPr>
        <p:spPr>
          <a:xfrm>
            <a:off x="6355080" y="2697480"/>
            <a:ext cx="4892040" cy="3200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REACT FLOW DAG &amp; LEAFLET GIS MAP MATRIX
</a:t>
            </a:r>
            <a:pPr indent="0" marL="0">
              <a:buNone/>
            </a:pPr>
            <a:r>
              <a:rPr lang="en-US" sz="900" dirty="0">
                <a:solidFill>
                  <a:srgbClr val="F8FAFC"/>
                </a:solidFill>
                <a:latin typeface="Arial" pitchFamily="34" charset="0"/>
                <a:ea typeface="Arial" pitchFamily="34" charset="-122"/>
                <a:cs typeface="Arial" pitchFamily="34" charset="-120"/>
              </a:rPr>
              <a:t>• Dynamic Staged Particle Flow (Victim -&gt; T1 -&gt; T2 -&gt; ATM)
</a:t>
            </a:r>
            <a:pPr indent="0" marL="0">
              <a:buNone/>
            </a:pPr>
            <a:r>
              <a:rPr lang="en-US" sz="900" dirty="0">
                <a:solidFill>
                  <a:srgbClr val="F8FAFC"/>
                </a:solidFill>
                <a:latin typeface="Arial" pitchFamily="34" charset="0"/>
                <a:ea typeface="Arial" pitchFamily="34" charset="-122"/>
                <a:cs typeface="Arial" pitchFamily="34" charset="-120"/>
              </a:rPr>
              <a:t>• Real-Time Edge Transit Timestamps on Connectors
</a:t>
            </a:r>
            <a:pPr indent="0" marL="0">
              <a:buNone/>
            </a:pPr>
            <a:r>
              <a:rPr lang="en-US" sz="900" dirty="0">
                <a:solidFill>
                  <a:srgbClr val="F8FAFC"/>
                </a:solidFill>
                <a:latin typeface="Arial" pitchFamily="34" charset="0"/>
                <a:ea typeface="Arial" pitchFamily="34" charset="-122"/>
                <a:cs typeface="Arial" pitchFamily="34" charset="-120"/>
              </a:rPr>
              <a:t>• Dark Canvas Leaflet GIS (Esri Tiles / Zero Watermarks)
</a:t>
            </a:r>
            <a:pPr indent="0" marL="0">
              <a:buNone/>
            </a:pPr>
            <a:r>
              <a:rPr lang="en-US" sz="900" dirty="0">
                <a:solidFill>
                  <a:srgbClr val="EF4444"/>
                </a:solidFill>
                <a:latin typeface="Arial" pitchFamily="34" charset="0"/>
                <a:ea typeface="Arial" pitchFamily="34" charset="-122"/>
                <a:cs typeface="Arial" pitchFamily="34" charset="-120"/>
              </a:rPr>
              <a:t>• Pulsing 600m Danger Radius over Target Terminal (ATM-009)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INDUSTRY BENCHMARK
</a:t>
            </a:r>
            <a:pPr indent="0" marL="0">
              <a:buNone/>
            </a:pPr>
            <a:r>
              <a:rPr lang="en-US" sz="2000" b="1" dirty="0">
                <a:solidFill>
                  <a:srgbClr val="F8FAFC"/>
                </a:solidFill>
                <a:latin typeface="Arial" pitchFamily="34" charset="0"/>
                <a:ea typeface="Arial" pitchFamily="34" charset="-122"/>
                <a:cs typeface="Arial" pitchFamily="34" charset="-120"/>
              </a:rPr>
              <a:t>Operational Capability Matrix: Legacy Workflow vs Project KAVACH-GRAPH</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9 OF 12</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914400"/>
        </p:xfrm>
        <a:graphic>
          <a:graphicData uri="http://schemas.openxmlformats.org/drawingml/2006/table">
            <a:tbl>
              <a:tblPr/>
              <a:tblGrid>
                <a:gridCol w="3566160"/>
                <a:gridCol w="3566160"/>
                <a:gridCol w="3566160"/>
              </a:tblGrid>
              <a:tr h="0">
                <a:tc>
                  <a:txBody>
                    <a:bodyPr/>
                    <a:lstStyle/>
                    <a:p>
                      <a:pPr indent="0" marL="0">
                        <a:buNone/>
                      </a:pPr>
                      <a:r>
                        <a:rPr lang="en-US" sz="950" b="1" dirty="0">
                          <a:solidFill>
                            <a:srgbClr val="38BDF8"/>
                          </a:solidFill>
                        </a:rPr>
                        <a:t>DIMENSION</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94A3B8"/>
                          </a:solidFill>
                        </a:rPr>
                        <a:t>LEGACY 1930 / BANK WORKFLOW</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c>
                  <a:txBody>
                    <a:bodyPr/>
                    <a:lstStyle/>
                    <a:p>
                      <a:pPr indent="0" marL="0">
                        <a:buNone/>
                      </a:pPr>
                      <a:r>
                        <a:rPr lang="en-US" sz="950" b="1" dirty="0">
                          <a:solidFill>
                            <a:srgbClr val="10B981"/>
                          </a:solidFill>
                        </a:rPr>
                        <a:t>PROJECT KAVACH-GRAPH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6080F"/>
                    </a:solidFill>
                  </a:tcPr>
                </a:tc>
              </a:tr>
              <a:tr h="0">
                <a:tc>
                  <a:txBody>
                    <a:bodyPr/>
                    <a:lstStyle/>
                    <a:p>
                      <a:pPr indent="0" marL="0">
                        <a:buNone/>
                      </a:pPr>
                      <a:r>
                        <a:rPr lang="en-US" sz="950" dirty="0">
                          <a:solidFill>
                            <a:srgbClr val="F8FAFC"/>
                          </a:solidFill>
                        </a:rPr>
                        <a:t>Traversal Response Time</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45 to 120 Minutes (Manual Email / Portal)</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&lt; 15 Milliseconds (Deterministic In-Memory)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Cross-Bank Visibility</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Siloed (Single Institution Ledger View)</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Unified Cross-Bank Directed Multigraph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Layering Recognition</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Flat Tabular Lookups (Relational SQL)</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Multi-Hop Smurfing Graph DAG Engine</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ATM Cash-Out Prediction</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Zero Capability (Post-Mortem CCTV Review)</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Multi-Factor Spatial Decay Softmax Model</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Police Unit Dispatch</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Delayed FIR / Days Post-Withdrawal</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12-Minute Golden Window Patrol Routing</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r h="0">
                <a:tc>
                  <a:txBody>
                    <a:bodyPr/>
                    <a:lstStyle/>
                    <a:p>
                      <a:pPr indent="0" marL="0">
                        <a:buNone/>
                      </a:pPr>
                      <a:r>
                        <a:rPr lang="en-US" sz="950" dirty="0">
                          <a:solidFill>
                            <a:srgbClr val="F8FAFC"/>
                          </a:solidFill>
                        </a:rPr>
                        <a:t>Bank Freeze Execution</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Manual Batch Nodal Emails</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c>
                  <a:txBody>
                    <a:bodyPr/>
                    <a:lstStyle/>
                    <a:p>
                      <a:pPr indent="0" marL="0">
                        <a:buNone/>
                      </a:pPr>
                      <a:r>
                        <a:rPr lang="en-US" sz="950" dirty="0">
                          <a:solidFill>
                            <a:srgbClr val="F8FAFC"/>
                          </a:solidFill>
                        </a:rPr>
                        <a:t>Automated Sec 91 CrPC Webhooks (&lt;100ms)</a:t>
                      </a:r>
                      <a:endParaRPr lang="en-US" sz="950" dirty="0"/>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B102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TECHNICAL SCALABILITY &amp; STRESS TESTING
</a:t>
            </a:r>
            <a:pPr indent="0" marL="0">
              <a:buNone/>
            </a:pPr>
            <a:r>
              <a:rPr lang="en-US" sz="2000" b="1" dirty="0">
                <a:solidFill>
                  <a:srgbClr val="F8FAFC"/>
                </a:solidFill>
                <a:latin typeface="Arial" pitchFamily="34" charset="0"/>
                <a:ea typeface="Arial" pitchFamily="34" charset="-122"/>
                <a:cs typeface="Arial" pitchFamily="34" charset="-120"/>
              </a:rPr>
              <a:t>Performance Profile Under 50,000 Synthetic Transaction Bursts</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10 OF 12</a:t>
            </a:r>
            <a:endParaRPr lang="en-US" sz="850" dirty="0"/>
          </a:p>
        </p:txBody>
      </p:sp>
      <p:sp>
        <p:nvSpPr>
          <p:cNvPr id="6" name="Shape 3"/>
          <p:cNvSpPr/>
          <p:nvPr/>
        </p:nvSpPr>
        <p:spPr>
          <a:xfrm>
            <a:off x="731520" y="1554480"/>
            <a:ext cx="2560320" cy="1645920"/>
          </a:xfrm>
          <a:prstGeom prst="roundRect">
            <a:avLst>
              <a:gd name="adj" fmla="val 5556"/>
            </a:avLst>
          </a:prstGeom>
          <a:solidFill>
            <a:srgbClr val="0B1021"/>
          </a:solidFill>
          <a:ln w="12700">
            <a:solidFill>
              <a:srgbClr val="38BDF8"/>
            </a:solidFill>
            <a:prstDash val="solid"/>
          </a:ln>
        </p:spPr>
      </p:sp>
      <p:sp>
        <p:nvSpPr>
          <p:cNvPr id="7" name="Text 4"/>
          <p:cNvSpPr/>
          <p:nvPr/>
        </p:nvSpPr>
        <p:spPr>
          <a:xfrm>
            <a:off x="914400" y="1691640"/>
            <a:ext cx="2194560" cy="137160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11.4 ms
</a:t>
            </a:r>
            <a:pPr indent="0" marL="0">
              <a:buNone/>
            </a:pPr>
            <a:r>
              <a:rPr lang="en-US" sz="950" dirty="0">
                <a:solidFill>
                  <a:srgbClr val="F8FAFC"/>
                </a:solidFill>
                <a:latin typeface="Arial" pitchFamily="34" charset="0"/>
                <a:ea typeface="Arial" pitchFamily="34" charset="-122"/>
                <a:cs typeface="Arial" pitchFamily="34" charset="-120"/>
              </a:rPr>
              <a:t>Average Traversal Latency across 5-Hop Layering Chains</a:t>
            </a:r>
            <a:endParaRPr lang="en-US" sz="1800" dirty="0"/>
          </a:p>
        </p:txBody>
      </p:sp>
      <p:sp>
        <p:nvSpPr>
          <p:cNvPr id="8" name="Shape 5"/>
          <p:cNvSpPr/>
          <p:nvPr/>
        </p:nvSpPr>
        <p:spPr>
          <a:xfrm>
            <a:off x="3429000" y="1554480"/>
            <a:ext cx="2560320" cy="1645920"/>
          </a:xfrm>
          <a:prstGeom prst="roundRect">
            <a:avLst>
              <a:gd name="adj" fmla="val 5556"/>
            </a:avLst>
          </a:prstGeom>
          <a:solidFill>
            <a:srgbClr val="0B1021"/>
          </a:solidFill>
          <a:ln w="12700">
            <a:solidFill>
              <a:srgbClr val="38BDF8"/>
            </a:solidFill>
            <a:prstDash val="solid"/>
          </a:ln>
        </p:spPr>
      </p:sp>
      <p:sp>
        <p:nvSpPr>
          <p:cNvPr id="9" name="Text 6"/>
          <p:cNvSpPr/>
          <p:nvPr/>
        </p:nvSpPr>
        <p:spPr>
          <a:xfrm>
            <a:off x="3611880" y="1691640"/>
            <a:ext cx="2194560" cy="137160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4,200 tx/s
</a:t>
            </a:r>
            <a:pPr indent="0" marL="0">
              <a:buNone/>
            </a:pPr>
            <a:r>
              <a:rPr lang="en-US" sz="950" dirty="0">
                <a:solidFill>
                  <a:srgbClr val="F8FAFC"/>
                </a:solidFill>
                <a:latin typeface="Arial" pitchFamily="34" charset="0"/>
                <a:ea typeface="Arial" pitchFamily="34" charset="-122"/>
                <a:cs typeface="Arial" pitchFamily="34" charset="-120"/>
              </a:rPr>
              <a:t>Peak Ingestion Throughput per FastAPI Worker Process</a:t>
            </a:r>
            <a:endParaRPr lang="en-US" sz="1800" dirty="0"/>
          </a:p>
        </p:txBody>
      </p:sp>
      <p:sp>
        <p:nvSpPr>
          <p:cNvPr id="10" name="Shape 7"/>
          <p:cNvSpPr/>
          <p:nvPr/>
        </p:nvSpPr>
        <p:spPr>
          <a:xfrm>
            <a:off x="6126480" y="1554480"/>
            <a:ext cx="2560320" cy="1645920"/>
          </a:xfrm>
          <a:prstGeom prst="roundRect">
            <a:avLst>
              <a:gd name="adj" fmla="val 5556"/>
            </a:avLst>
          </a:prstGeom>
          <a:solidFill>
            <a:srgbClr val="0B1021"/>
          </a:solidFill>
          <a:ln w="12700">
            <a:solidFill>
              <a:srgbClr val="38BDF8"/>
            </a:solidFill>
            <a:prstDash val="solid"/>
          </a:ln>
        </p:spPr>
      </p:sp>
      <p:sp>
        <p:nvSpPr>
          <p:cNvPr id="11" name="Text 8"/>
          <p:cNvSpPr/>
          <p:nvPr/>
        </p:nvSpPr>
        <p:spPr>
          <a:xfrm>
            <a:off x="6309360" y="1691640"/>
            <a:ext cx="2194560" cy="137160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384 MB
</a:t>
            </a:r>
            <a:pPr indent="0" marL="0">
              <a:buNone/>
            </a:pPr>
            <a:r>
              <a:rPr lang="en-US" sz="950" dirty="0">
                <a:solidFill>
                  <a:srgbClr val="F8FAFC"/>
                </a:solidFill>
                <a:latin typeface="Arial" pitchFamily="34" charset="0"/>
                <a:ea typeface="Arial" pitchFamily="34" charset="-122"/>
                <a:cs typeface="Arial" pitchFamily="34" charset="-120"/>
              </a:rPr>
              <a:t>Active RAM Footprint for 100,000 Graph Nodes and Edges</a:t>
            </a:r>
            <a:endParaRPr lang="en-US" sz="1800" dirty="0"/>
          </a:p>
        </p:txBody>
      </p:sp>
      <p:sp>
        <p:nvSpPr>
          <p:cNvPr id="12" name="Shape 9"/>
          <p:cNvSpPr/>
          <p:nvPr/>
        </p:nvSpPr>
        <p:spPr>
          <a:xfrm>
            <a:off x="8823960" y="1554480"/>
            <a:ext cx="2560320" cy="1645920"/>
          </a:xfrm>
          <a:prstGeom prst="roundRect">
            <a:avLst>
              <a:gd name="adj" fmla="val 5556"/>
            </a:avLst>
          </a:prstGeom>
          <a:solidFill>
            <a:srgbClr val="0B1021"/>
          </a:solidFill>
          <a:ln w="12700">
            <a:solidFill>
              <a:srgbClr val="38BDF8"/>
            </a:solidFill>
            <a:prstDash val="solid"/>
          </a:ln>
        </p:spPr>
      </p:sp>
      <p:sp>
        <p:nvSpPr>
          <p:cNvPr id="13" name="Text 10"/>
          <p:cNvSpPr/>
          <p:nvPr/>
        </p:nvSpPr>
        <p:spPr>
          <a:xfrm>
            <a:off x="9006840" y="1691640"/>
            <a:ext cx="2194560" cy="1371600"/>
          </a:xfrm>
          <a:prstGeom prst="rect">
            <a:avLst/>
          </a:prstGeom>
          <a:noFill/>
          <a:ln/>
        </p:spPr>
        <p:txBody>
          <a:bodyPr wrap="square" lIns="0" tIns="0" rIns="0" bIns="0" rtlCol="0" anchor="ctr"/>
          <a:lstStyle/>
          <a:p>
            <a:pPr indent="0" marL="0">
              <a:buNone/>
            </a:pPr>
            <a:r>
              <a:rPr lang="en-US" sz="1800" b="1" dirty="0">
                <a:solidFill>
                  <a:srgbClr val="38BDF8"/>
                </a:solidFill>
                <a:latin typeface="Arial" pitchFamily="34" charset="0"/>
                <a:ea typeface="Arial" pitchFamily="34" charset="-122"/>
                <a:cs typeface="Arial" pitchFamily="34" charset="-120"/>
              </a:rPr>
              <a:t>3.2 ms
</a:t>
            </a:r>
            <a:pPr indent="0" marL="0">
              <a:buNone/>
            </a:pPr>
            <a:r>
              <a:rPr lang="en-US" sz="950" dirty="0">
                <a:solidFill>
                  <a:srgbClr val="F8FAFC"/>
                </a:solidFill>
                <a:latin typeface="Arial" pitchFamily="34" charset="0"/>
                <a:ea typeface="Arial" pitchFamily="34" charset="-122"/>
                <a:cs typeface="Arial" pitchFamily="34" charset="-120"/>
              </a:rPr>
              <a:t>Spatial Softmax Evaluation Latency over 100 Regional ATMs</a:t>
            </a:r>
            <a:endParaRPr lang="en-US" sz="1800" dirty="0"/>
          </a:p>
        </p:txBody>
      </p:sp>
      <p:sp>
        <p:nvSpPr>
          <p:cNvPr id="14" name="Shape 11"/>
          <p:cNvSpPr/>
          <p:nvPr/>
        </p:nvSpPr>
        <p:spPr>
          <a:xfrm>
            <a:off x="731520" y="3474720"/>
            <a:ext cx="10698480" cy="2560320"/>
          </a:xfrm>
          <a:prstGeom prst="roundRect">
            <a:avLst>
              <a:gd name="adj" fmla="val 3571"/>
            </a:avLst>
          </a:prstGeom>
          <a:solidFill>
            <a:srgbClr val="0B1021"/>
          </a:solidFill>
          <a:ln w="12700">
            <a:solidFill>
              <a:srgbClr val="1E293B"/>
            </a:solidFill>
            <a:prstDash val="solid"/>
          </a:ln>
        </p:spPr>
      </p:sp>
      <p:sp>
        <p:nvSpPr>
          <p:cNvPr id="15" name="Text 12"/>
          <p:cNvSpPr/>
          <p:nvPr/>
        </p:nvSpPr>
        <p:spPr>
          <a:xfrm>
            <a:off x="914400" y="3611880"/>
            <a:ext cx="10332720" cy="228600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ENTERPRISE PRODUCTION DEPLOYMENT TOPOLOGY
</a:t>
            </a:r>
            <a:pPr indent="0" marL="0">
              <a:buNone/>
            </a:pPr>
            <a:r>
              <a:rPr lang="en-US" sz="1000" b="1" dirty="0">
                <a:solidFill>
                  <a:srgbClr val="F8FAFC"/>
                </a:solidFill>
                <a:latin typeface="Arial" pitchFamily="34" charset="0"/>
                <a:ea typeface="Arial" pitchFamily="34" charset="-122"/>
                <a:cs typeface="Arial" pitchFamily="34" charset="-120"/>
              </a:rPr>
              <a:t>• Ingestion Gateway: </a:t>
            </a:r>
            <a:pPr indent="0" marL="0">
              <a:buNone/>
            </a:pPr>
            <a:r>
              <a:rPr lang="en-US" sz="1000" dirty="0">
                <a:solidFill>
                  <a:srgbClr val="94A3B8"/>
                </a:solidFill>
                <a:latin typeface="Arial" pitchFamily="34" charset="0"/>
                <a:ea typeface="Arial" pitchFamily="34" charset="-122"/>
                <a:cs typeface="Arial" pitchFamily="34" charset="-120"/>
              </a:rPr>
              <a:t>Asynchronous FastAPI endpoints backed by Redis Streams for zero-drop event queues.
</a:t>
            </a:r>
            <a:pPr indent="0" marL="0">
              <a:buNone/>
            </a:pPr>
            <a:r>
              <a:rPr lang="en-US" sz="1000" b="1" dirty="0">
                <a:solidFill>
                  <a:srgbClr val="F8FAFC"/>
                </a:solidFill>
                <a:latin typeface="Arial" pitchFamily="34" charset="0"/>
                <a:ea typeface="Arial" pitchFamily="34" charset="-122"/>
                <a:cs typeface="Arial" pitchFamily="34" charset="-120"/>
              </a:rPr>
              <a:t>• Distributed Compute Layer: </a:t>
            </a:r>
            <a:pPr indent="0" marL="0">
              <a:buNone/>
            </a:pPr>
            <a:r>
              <a:rPr lang="en-US" sz="1000" dirty="0">
                <a:solidFill>
                  <a:srgbClr val="94A3B8"/>
                </a:solidFill>
                <a:latin typeface="Arial" pitchFamily="34" charset="0"/>
                <a:ea typeface="Arial" pitchFamily="34" charset="-122"/>
                <a:cs typeface="Arial" pitchFamily="34" charset="-120"/>
              </a:rPr>
              <a:t>Horizontally scalable graph partitions (Memgraph / Neo4j in-memory clusters).
</a:t>
            </a:r>
            <a:pPr indent="0" marL="0">
              <a:buNone/>
            </a:pPr>
            <a:r>
              <a:rPr lang="en-US" sz="1000" b="1" dirty="0">
                <a:solidFill>
                  <a:srgbClr val="F8FAFC"/>
                </a:solidFill>
                <a:latin typeface="Arial" pitchFamily="34" charset="0"/>
                <a:ea typeface="Arial" pitchFamily="34" charset="-122"/>
                <a:cs typeface="Arial" pitchFamily="34" charset="-120"/>
              </a:rPr>
              <a:t>• Sovereign On-Premise SOC: </a:t>
            </a:r>
            <a:pPr indent="0" marL="0">
              <a:buNone/>
            </a:pPr>
            <a:r>
              <a:rPr lang="en-US" sz="1000" dirty="0">
                <a:solidFill>
                  <a:srgbClr val="94A3B8"/>
                </a:solidFill>
                <a:latin typeface="Arial" pitchFamily="34" charset="0"/>
                <a:ea typeface="Arial" pitchFamily="34" charset="-122"/>
                <a:cs typeface="Arial" pitchFamily="34" charset="-120"/>
              </a:rPr>
              <a:t>Zero external cloud lock-in; deployable inside state police cyber cell data centers.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DEPLOYMENT ROADMAP
</a:t>
            </a:r>
            <a:pPr indent="0" marL="0">
              <a:buNone/>
            </a:pPr>
            <a:r>
              <a:rPr lang="en-US" sz="2000" b="1" dirty="0">
                <a:solidFill>
                  <a:srgbClr val="F8FAFC"/>
                </a:solidFill>
                <a:latin typeface="Arial" pitchFamily="34" charset="0"/>
                <a:ea typeface="Arial" pitchFamily="34" charset="-122"/>
                <a:cs typeface="Arial" pitchFamily="34" charset="-120"/>
              </a:rPr>
              <a:t>Phased Integration Strategy from Pilot Sandbox to National Federation</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11 OF 12</a:t>
            </a:r>
            <a:endParaRPr lang="en-US" sz="850" dirty="0"/>
          </a:p>
        </p:txBody>
      </p:sp>
      <p:sp>
        <p:nvSpPr>
          <p:cNvPr id="6" name="Shape 3"/>
          <p:cNvSpPr/>
          <p:nvPr/>
        </p:nvSpPr>
        <p:spPr>
          <a:xfrm>
            <a:off x="731520" y="1554480"/>
            <a:ext cx="3474720" cy="4480560"/>
          </a:xfrm>
          <a:prstGeom prst="roundRect">
            <a:avLst>
              <a:gd name="adj" fmla="val 2632"/>
            </a:avLst>
          </a:prstGeom>
          <a:solidFill>
            <a:srgbClr val="0B1021"/>
          </a:solidFill>
          <a:ln w="19050">
            <a:solidFill>
              <a:srgbClr val="10B981"/>
            </a:solidFill>
            <a:prstDash val="solid"/>
          </a:ln>
        </p:spPr>
      </p:sp>
      <p:sp>
        <p:nvSpPr>
          <p:cNvPr id="7" name="Text 4"/>
          <p:cNvSpPr/>
          <p:nvPr/>
        </p:nvSpPr>
        <p:spPr>
          <a:xfrm>
            <a:off x="914400" y="1737360"/>
            <a:ext cx="3108960" cy="411480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PHASE 1: BENCH VALIDATION
</a:t>
            </a:r>
            <a:pPr indent="0" marL="0">
              <a:buNone/>
            </a:pPr>
            <a:r>
              <a:rPr lang="en-US" sz="900" b="1" dirty="0">
                <a:solidFill>
                  <a:srgbClr val="94A3B8"/>
                </a:solidFill>
                <a:latin typeface="Arial" pitchFamily="34" charset="0"/>
                <a:ea typeface="Arial" pitchFamily="34" charset="-122"/>
                <a:cs typeface="Arial" pitchFamily="34" charset="-120"/>
              </a:rPr>
              <a:t>COMPLETED (CURRENT)
</a:t>
            </a:r>
            <a:pPr indent="0" marL="0">
              <a:buNone/>
            </a:pPr>
            <a:r>
              <a:rPr lang="en-US" sz="1000" dirty="0">
                <a:solidFill>
                  <a:srgbClr val="F8FAFC"/>
                </a:solidFill>
                <a:latin typeface="Arial" pitchFamily="34" charset="0"/>
                <a:ea typeface="Arial" pitchFamily="34" charset="-122"/>
                <a:cs typeface="Arial" pitchFamily="34" charset="-120"/>
              </a:rPr>
              <a:t>• Sub-15ms NetworkX BFS engine</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Spatial decay softmax solver</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React Flow visual DAG console</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Simulated Sec 91 CrPC freeze API</a:t>
            </a:r>
            <a:endParaRPr lang="en-US" sz="1100" dirty="0"/>
          </a:p>
        </p:txBody>
      </p:sp>
      <p:sp>
        <p:nvSpPr>
          <p:cNvPr id="8" name="Shape 5"/>
          <p:cNvSpPr/>
          <p:nvPr/>
        </p:nvSpPr>
        <p:spPr>
          <a:xfrm>
            <a:off x="4343400" y="1554480"/>
            <a:ext cx="3474720" cy="4480560"/>
          </a:xfrm>
          <a:prstGeom prst="roundRect">
            <a:avLst>
              <a:gd name="adj" fmla="val 2632"/>
            </a:avLst>
          </a:prstGeom>
          <a:solidFill>
            <a:srgbClr val="0B1021"/>
          </a:solidFill>
          <a:ln w="19050">
            <a:solidFill>
              <a:srgbClr val="38BDF8"/>
            </a:solidFill>
            <a:prstDash val="solid"/>
          </a:ln>
        </p:spPr>
      </p:sp>
      <p:sp>
        <p:nvSpPr>
          <p:cNvPr id="9" name="Text 6"/>
          <p:cNvSpPr/>
          <p:nvPr/>
        </p:nvSpPr>
        <p:spPr>
          <a:xfrm>
            <a:off x="4526280" y="1737360"/>
            <a:ext cx="3108960" cy="411480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PHASE 2: I4C SANDBOX PILOT
</a:t>
            </a:r>
            <a:pPr indent="0" marL="0">
              <a:buNone/>
            </a:pPr>
            <a:r>
              <a:rPr lang="en-US" sz="900" b="1" dirty="0">
                <a:solidFill>
                  <a:srgbClr val="94A3B8"/>
                </a:solidFill>
                <a:latin typeface="Arial" pitchFamily="34" charset="0"/>
                <a:ea typeface="Arial" pitchFamily="34" charset="-122"/>
                <a:cs typeface="Arial" pitchFamily="34" charset="-120"/>
              </a:rPr>
              <a:t>TARGET: Q3 2026
</a:t>
            </a:r>
            <a:pPr indent="0" marL="0">
              <a:buNone/>
            </a:pPr>
            <a:r>
              <a:rPr lang="en-US" sz="1000" dirty="0">
                <a:solidFill>
                  <a:srgbClr val="F8FAFC"/>
                </a:solidFill>
                <a:latin typeface="Arial" pitchFamily="34" charset="0"/>
                <a:ea typeface="Arial" pitchFamily="34" charset="-122"/>
                <a:cs typeface="Arial" pitchFamily="34" charset="-120"/>
              </a:rPr>
              <a:t>• Historical NCRP complaint ingestion</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Bank nodal mock webhook sandbox</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Calibration with PCR patrol response</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Dockerized microservice package</a:t>
            </a:r>
            <a:endParaRPr lang="en-US" sz="1100" dirty="0"/>
          </a:p>
        </p:txBody>
      </p:sp>
      <p:sp>
        <p:nvSpPr>
          <p:cNvPr id="10" name="Shape 7"/>
          <p:cNvSpPr/>
          <p:nvPr/>
        </p:nvSpPr>
        <p:spPr>
          <a:xfrm>
            <a:off x="7955280" y="1554480"/>
            <a:ext cx="3474720" cy="4480560"/>
          </a:xfrm>
          <a:prstGeom prst="roundRect">
            <a:avLst>
              <a:gd name="adj" fmla="val 2632"/>
            </a:avLst>
          </a:prstGeom>
          <a:solidFill>
            <a:srgbClr val="0B1021"/>
          </a:solidFill>
          <a:ln w="19050">
            <a:solidFill>
              <a:srgbClr val="2563EB"/>
            </a:solidFill>
            <a:prstDash val="solid"/>
          </a:ln>
        </p:spPr>
      </p:sp>
      <p:sp>
        <p:nvSpPr>
          <p:cNvPr id="11" name="Text 8"/>
          <p:cNvSpPr/>
          <p:nvPr/>
        </p:nvSpPr>
        <p:spPr>
          <a:xfrm>
            <a:off x="8138160" y="1737360"/>
            <a:ext cx="3108960" cy="4114800"/>
          </a:xfrm>
          <a:prstGeom prst="rect">
            <a:avLst/>
          </a:prstGeom>
          <a:noFill/>
          <a:ln/>
        </p:spPr>
        <p:txBody>
          <a:bodyPr wrap="square" lIns="0" tIns="0" rIns="0" bIns="0" rtlCol="0" anchor="ctr"/>
          <a:lstStyle/>
          <a:p>
            <a:pPr indent="0" marL="0">
              <a:buNone/>
            </a:pPr>
            <a:r>
              <a:rPr lang="en-US" sz="1100" b="1" dirty="0">
                <a:solidFill>
                  <a:srgbClr val="2563EB"/>
                </a:solidFill>
                <a:latin typeface="Arial" pitchFamily="34" charset="0"/>
                <a:ea typeface="Arial" pitchFamily="34" charset="-122"/>
                <a:cs typeface="Arial" pitchFamily="34" charset="-120"/>
              </a:rPr>
              <a:t>PHASE 3: NATIONAL SCALE
</a:t>
            </a:r>
            <a:pPr indent="0" marL="0">
              <a:buNone/>
            </a:pPr>
            <a:r>
              <a:rPr lang="en-US" sz="900" b="1" dirty="0">
                <a:solidFill>
                  <a:srgbClr val="94A3B8"/>
                </a:solidFill>
                <a:latin typeface="Arial" pitchFamily="34" charset="0"/>
                <a:ea typeface="Arial" pitchFamily="34" charset="-122"/>
                <a:cs typeface="Arial" pitchFamily="34" charset="-120"/>
              </a:rPr>
              <a:t>TARGET: 2027
</a:t>
            </a:r>
            <a:pPr indent="0" marL="0">
              <a:buNone/>
            </a:pPr>
            <a:r>
              <a:rPr lang="en-US" sz="1000" dirty="0">
                <a:solidFill>
                  <a:srgbClr val="F8FAFC"/>
                </a:solidFill>
                <a:latin typeface="Arial" pitchFamily="34" charset="0"/>
                <a:ea typeface="Arial" pitchFamily="34" charset="-122"/>
                <a:cs typeface="Arial" pitchFamily="34" charset="-120"/>
              </a:rPr>
              <a:t>• Federation with 750+ Cyber Cells</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Integration with NPCI IPG rails</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Real-time automated switch holds</a:t>
            </a:r>
            <a:endParaRPr lang="en-US" sz="1100" dirty="0"/>
          </a:p>
          <a:p>
            <a:pPr indent="0" marL="0">
              <a:buNone/>
            </a:pPr>
            <a:r>
              <a:rPr lang="en-US" sz="1000" dirty="0">
                <a:solidFill>
                  <a:srgbClr val="F8FAFC"/>
                </a:solidFill>
                <a:latin typeface="Arial" pitchFamily="34" charset="0"/>
                <a:ea typeface="Arial" pitchFamily="34" charset="-122"/>
                <a:cs typeface="Arial" pitchFamily="34" charset="-120"/>
              </a:rPr>
              <a:t>• Full sovereign deployment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31520" y="365760"/>
            <a:ext cx="10725912" cy="36576"/>
          </a:xfrm>
          <a:prstGeom prst="rect">
            <a:avLst/>
          </a:prstGeom>
          <a:solidFill>
            <a:srgbClr val="38BDF8"/>
          </a:solidFill>
          <a:ln w="12700">
            <a:solidFill>
              <a:srgbClr val="38BDF8"/>
            </a:solidFill>
            <a:prstDash val="solid"/>
          </a:ln>
        </p:spPr>
      </p:sp>
      <p:sp>
        <p:nvSpPr>
          <p:cNvPr id="3" name="Text 1"/>
          <p:cNvSpPr/>
          <p:nvPr/>
        </p:nvSpPr>
        <p:spPr>
          <a:xfrm>
            <a:off x="731520" y="457200"/>
            <a:ext cx="10725912" cy="914400"/>
          </a:xfrm>
          <a:prstGeom prst="rect">
            <a:avLst/>
          </a:prstGeom>
          <a:noFill/>
          <a:ln/>
        </p:spPr>
        <p:txBody>
          <a:bodyPr wrap="square" lIns="0" tIns="0" rIns="0" bIns="0" rtlCol="0" anchor="ctr"/>
          <a:lstStyle/>
          <a:p>
            <a:pPr indent="0" marL="0">
              <a:buNone/>
            </a:pPr>
            <a:r>
              <a:rPr lang="en-US" sz="1000" b="1" dirty="0">
                <a:solidFill>
                  <a:srgbClr val="38BDF8"/>
                </a:solidFill>
                <a:latin typeface="Arial" pitchFamily="34" charset="0"/>
                <a:ea typeface="Arial" pitchFamily="34" charset="-122"/>
                <a:cs typeface="Arial" pitchFamily="34" charset="-120"/>
              </a:rPr>
              <a:t>EXECUTIVE DEFENSE THESIS
</a:t>
            </a:r>
            <a:pPr indent="0" marL="0">
              <a:buNone/>
            </a:pPr>
            <a:r>
              <a:rPr lang="en-US" sz="2000" b="1" dirty="0">
                <a:solidFill>
                  <a:srgbClr val="F8FAFC"/>
                </a:solidFill>
                <a:latin typeface="Arial" pitchFamily="34" charset="0"/>
                <a:ea typeface="Arial" pitchFamily="34" charset="-122"/>
                <a:cs typeface="Arial" pitchFamily="34" charset="-120"/>
              </a:rPr>
              <a:t>Transforming Cyber Fraud Defense from Post-Mortem Filing to Physical Interception</a:t>
            </a:r>
            <a:endParaRPr lang="en-US" sz="1000" dirty="0"/>
          </a:p>
        </p:txBody>
      </p:sp>
      <p:sp>
        <p:nvSpPr>
          <p:cNvPr id="4" name="Text 2"/>
          <p:cNvSpPr/>
          <p:nvPr/>
        </p:nvSpPr>
        <p:spPr>
          <a:xfrm>
            <a:off x="731520" y="6309360"/>
            <a:ext cx="10725912"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SMART INDIA HACKATHON 2026 | PROJECT KAVACH-GRAPH (PS ID: SIH26184) | MINISTRY OF HOME AFFAIRS (I4C) | SLIDE 12 OF 12</a:t>
            </a:r>
            <a:endParaRPr lang="en-US" sz="850" dirty="0"/>
          </a:p>
        </p:txBody>
      </p:sp>
      <p:sp>
        <p:nvSpPr>
          <p:cNvPr id="6" name="Shape 3"/>
          <p:cNvSpPr/>
          <p:nvPr/>
        </p:nvSpPr>
        <p:spPr>
          <a:xfrm>
            <a:off x="731520" y="1554480"/>
            <a:ext cx="3474720" cy="2926080"/>
          </a:xfrm>
          <a:prstGeom prst="roundRect">
            <a:avLst>
              <a:gd name="adj" fmla="val 3125"/>
            </a:avLst>
          </a:prstGeom>
          <a:solidFill>
            <a:srgbClr val="0B1021"/>
          </a:solidFill>
          <a:ln w="12700">
            <a:solidFill>
              <a:srgbClr val="38BDF8"/>
            </a:solidFill>
            <a:prstDash val="solid"/>
          </a:ln>
        </p:spPr>
      </p:sp>
      <p:sp>
        <p:nvSpPr>
          <p:cNvPr id="7" name="Text 4"/>
          <p:cNvSpPr/>
          <p:nvPr/>
        </p:nvSpPr>
        <p:spPr>
          <a:xfrm>
            <a:off x="914400" y="1691640"/>
            <a:ext cx="3108960" cy="265176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DETERMINISTIC SPEED
</a:t>
            </a:r>
            <a:pPr indent="0" marL="0">
              <a:buNone/>
            </a:pPr>
            <a:r>
              <a:rPr lang="en-US" sz="1300" b="1" dirty="0">
                <a:solidFill>
                  <a:srgbClr val="F8FAFC"/>
                </a:solidFill>
                <a:latin typeface="Arial" pitchFamily="34" charset="0"/>
                <a:ea typeface="Arial" pitchFamily="34" charset="-122"/>
                <a:cs typeface="Arial" pitchFamily="34" charset="-120"/>
              </a:rPr>
              <a:t>&lt; 15 ms Graph Core
</a:t>
            </a:r>
            <a:pPr indent="0" marL="0">
              <a:buNone/>
            </a:pPr>
            <a:r>
              <a:rPr lang="en-US" sz="1000" dirty="0">
                <a:solidFill>
                  <a:srgbClr val="94A3B8"/>
                </a:solidFill>
                <a:latin typeface="Arial" pitchFamily="34" charset="0"/>
                <a:ea typeface="Arial" pitchFamily="34" charset="-122"/>
                <a:cs typeface="Arial" pitchFamily="34" charset="-120"/>
              </a:rPr>
              <a:t>Eliminates the 45-minute inter-bank inquiry delay via in-memory directed traversals.</a:t>
            </a:r>
            <a:endParaRPr lang="en-US" sz="1100" dirty="0"/>
          </a:p>
        </p:txBody>
      </p:sp>
      <p:sp>
        <p:nvSpPr>
          <p:cNvPr id="8" name="Shape 5"/>
          <p:cNvSpPr/>
          <p:nvPr/>
        </p:nvSpPr>
        <p:spPr>
          <a:xfrm>
            <a:off x="4343400" y="1554480"/>
            <a:ext cx="3474720" cy="2926080"/>
          </a:xfrm>
          <a:prstGeom prst="roundRect">
            <a:avLst>
              <a:gd name="adj" fmla="val 3125"/>
            </a:avLst>
          </a:prstGeom>
          <a:solidFill>
            <a:srgbClr val="0B1021"/>
          </a:solidFill>
          <a:ln w="12700">
            <a:solidFill>
              <a:srgbClr val="38BDF8"/>
            </a:solidFill>
            <a:prstDash val="solid"/>
          </a:ln>
        </p:spPr>
      </p:sp>
      <p:sp>
        <p:nvSpPr>
          <p:cNvPr id="9" name="Text 6"/>
          <p:cNvSpPr/>
          <p:nvPr/>
        </p:nvSpPr>
        <p:spPr>
          <a:xfrm>
            <a:off x="4526280" y="1691640"/>
            <a:ext cx="3108960" cy="265176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MATHEMATICAL ACCURACY
</a:t>
            </a:r>
            <a:pPr indent="0" marL="0">
              <a:buNone/>
            </a:pPr>
            <a:r>
              <a:rPr lang="en-US" sz="1300" b="1" dirty="0">
                <a:solidFill>
                  <a:srgbClr val="F8FAFC"/>
                </a:solidFill>
                <a:latin typeface="Arial" pitchFamily="34" charset="0"/>
                <a:ea typeface="Arial" pitchFamily="34" charset="-122"/>
                <a:cs typeface="Arial" pitchFamily="34" charset="-120"/>
              </a:rPr>
              <a:t>88%+ Target Confidence
</a:t>
            </a:r>
            <a:pPr indent="0" marL="0">
              <a:buNone/>
            </a:pPr>
            <a:r>
              <a:rPr lang="en-US" sz="1000" dirty="0">
                <a:solidFill>
                  <a:srgbClr val="94A3B8"/>
                </a:solidFill>
                <a:latin typeface="Arial" pitchFamily="34" charset="0"/>
                <a:ea typeface="Arial" pitchFamily="34" charset="-122"/>
                <a:cs typeface="Arial" pitchFamily="34" charset="-120"/>
              </a:rPr>
              <a:t>Multi-factor spatial decay pinpoints target ATMs with zero LLM pathfinding hallucinations.</a:t>
            </a:r>
            <a:endParaRPr lang="en-US" sz="1100" dirty="0"/>
          </a:p>
        </p:txBody>
      </p:sp>
      <p:sp>
        <p:nvSpPr>
          <p:cNvPr id="10" name="Shape 7"/>
          <p:cNvSpPr/>
          <p:nvPr/>
        </p:nvSpPr>
        <p:spPr>
          <a:xfrm>
            <a:off x="7955280" y="1554480"/>
            <a:ext cx="3474720" cy="2926080"/>
          </a:xfrm>
          <a:prstGeom prst="roundRect">
            <a:avLst>
              <a:gd name="adj" fmla="val 3125"/>
            </a:avLst>
          </a:prstGeom>
          <a:solidFill>
            <a:srgbClr val="0B1021"/>
          </a:solidFill>
          <a:ln w="12700">
            <a:solidFill>
              <a:srgbClr val="38BDF8"/>
            </a:solidFill>
            <a:prstDash val="solid"/>
          </a:ln>
        </p:spPr>
      </p:sp>
      <p:sp>
        <p:nvSpPr>
          <p:cNvPr id="11" name="Text 8"/>
          <p:cNvSpPr/>
          <p:nvPr/>
        </p:nvSpPr>
        <p:spPr>
          <a:xfrm>
            <a:off x="8138160" y="1691640"/>
            <a:ext cx="3108960" cy="2651760"/>
          </a:xfrm>
          <a:prstGeom prst="rect">
            <a:avLst/>
          </a:prstGeom>
          <a:noFill/>
          <a:ln/>
        </p:spPr>
        <p:txBody>
          <a:bodyPr wrap="square" lIns="0" tIns="0" rIns="0" bIns="0" rtlCol="0" anchor="ctr"/>
          <a:lstStyle/>
          <a:p>
            <a:pPr indent="0" marL="0">
              <a:buNone/>
            </a:pPr>
            <a:r>
              <a:rPr lang="en-US" sz="1100" b="1" dirty="0">
                <a:solidFill>
                  <a:srgbClr val="38BDF8"/>
                </a:solidFill>
                <a:latin typeface="Arial" pitchFamily="34" charset="0"/>
                <a:ea typeface="Arial" pitchFamily="34" charset="-122"/>
                <a:cs typeface="Arial" pitchFamily="34" charset="-120"/>
              </a:rPr>
              <a:t>STATUTORY COMPLIANCE
</a:t>
            </a:r>
            <a:pPr indent="0" marL="0">
              <a:buNone/>
            </a:pPr>
            <a:r>
              <a:rPr lang="en-US" sz="1300" b="1" dirty="0">
                <a:solidFill>
                  <a:srgbClr val="F8FAFC"/>
                </a:solidFill>
                <a:latin typeface="Arial" pitchFamily="34" charset="0"/>
                <a:ea typeface="Arial" pitchFamily="34" charset="-122"/>
                <a:cs typeface="Arial" pitchFamily="34" charset="-120"/>
              </a:rPr>
              <a:t>Sec 91 / 102 CrPC
</a:t>
            </a:r>
            <a:pPr indent="0" marL="0">
              <a:buNone/>
            </a:pPr>
            <a:r>
              <a:rPr lang="en-US" sz="1000" dirty="0">
                <a:solidFill>
                  <a:srgbClr val="94A3B8"/>
                </a:solidFill>
                <a:latin typeface="Arial" pitchFamily="34" charset="0"/>
                <a:ea typeface="Arial" pitchFamily="34" charset="-122"/>
                <a:cs typeface="Arial" pitchFamily="34" charset="-120"/>
              </a:rPr>
              <a:t>Pre-formatted webhook directives enable automated holds across downstream bank switches.</a:t>
            </a:r>
            <a:endParaRPr lang="en-US" sz="1100" dirty="0"/>
          </a:p>
        </p:txBody>
      </p:sp>
      <p:sp>
        <p:nvSpPr>
          <p:cNvPr id="12" name="Shape 9"/>
          <p:cNvSpPr/>
          <p:nvPr/>
        </p:nvSpPr>
        <p:spPr>
          <a:xfrm>
            <a:off x="731520" y="4663440"/>
            <a:ext cx="10698480" cy="1371600"/>
          </a:xfrm>
          <a:prstGeom prst="roundRect">
            <a:avLst>
              <a:gd name="adj" fmla="val 6667"/>
            </a:avLst>
          </a:prstGeom>
          <a:solidFill>
            <a:srgbClr val="0B1021"/>
          </a:solidFill>
          <a:ln w="12700">
            <a:solidFill>
              <a:srgbClr val="EF4444"/>
            </a:solidFill>
            <a:prstDash val="solid"/>
          </a:ln>
        </p:spPr>
      </p:sp>
      <p:sp>
        <p:nvSpPr>
          <p:cNvPr id="13" name="Text 10"/>
          <p:cNvSpPr/>
          <p:nvPr/>
        </p:nvSpPr>
        <p:spPr>
          <a:xfrm>
            <a:off x="914400" y="4800600"/>
            <a:ext cx="10332720" cy="1097280"/>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PROBLEM STATEMENT ID: SIH26184 | MINISTRY OF HOME AFFAIRS (I4C)
</a:t>
            </a:r>
            <a:pPr indent="0" marL="0">
              <a:buNone/>
            </a:pPr>
            <a:r>
              <a:rPr lang="en-US" sz="1100" b="1" dirty="0">
                <a:solidFill>
                  <a:srgbClr val="F8FAFC"/>
                </a:solidFill>
                <a:latin typeface="Arial" pitchFamily="34" charset="0"/>
                <a:ea typeface="Arial" pitchFamily="34" charset="-122"/>
                <a:cs typeface="Arial" pitchFamily="34" charset="-120"/>
              </a:rPr>
              <a:t>Project KAVACH-GRAPH | Anantha Lakshmi Institute of Technology &amp; Sciences (ALTS)
</a:t>
            </a:r>
            <a:pPr indent="0" marL="0">
              <a:buNone/>
            </a:pPr>
            <a:r>
              <a:rPr lang="en-US" sz="950" dirty="0">
                <a:solidFill>
                  <a:srgbClr val="94A3B8"/>
                </a:solidFill>
                <a:latin typeface="Arial" pitchFamily="34" charset="0"/>
                <a:ea typeface="Arial" pitchFamily="34" charset="-122"/>
                <a:cs typeface="Arial" pitchFamily="34" charset="-120"/>
              </a:rPr>
              <a:t>The floor is now open for technical cross-examination.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Ministry of Home Affairs (I4C)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KAVACH-GRAPH Presentation</dc:title>
  <dc:subject>SIH26184 Project KAVACH-GRAPH Final Defense Deck</dc:subject>
  <dc:creator>Anantha Lakshmi Institute of Technology &amp; Sciences</dc:creator>
  <cp:lastModifiedBy>Anantha Lakshmi Institute of Technology &amp; Sciences</cp:lastModifiedBy>
  <cp:revision>1</cp:revision>
  <dcterms:created xsi:type="dcterms:W3CDTF">2026-08-30T12:35:19Z</dcterms:created>
  <dcterms:modified xsi:type="dcterms:W3CDTF">2026-08-30T12:35:19Z</dcterms:modified>
</cp:coreProperties>
</file>