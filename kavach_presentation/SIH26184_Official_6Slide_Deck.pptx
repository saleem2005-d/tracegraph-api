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SMART INDIA HACKATHON 2026 | OFFICIAL IDEA SUBMISSION</a:t>
            </a:r>
          </a:p>
          <a:p>
            <a:pPr>
              <a:defRPr sz="1800" b="1">
                <a:solidFill>
                  <a:srgbClr val="F8FAFC"/>
                </a:solidFill>
                <a:latin typeface="Arial"/>
              </a:defRPr>
            </a:pPr>
            <a:r>
              <a:t>PROJECT KAVACH-GRAPH: Autonomous Mule Layering Forensics &amp; Cash-Out Interception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257800" cy="1143000"/>
          </a:xfrm>
          <a:prstGeom prst="roundRect">
            <a:avLst/>
          </a:prstGeom>
          <a:solidFill>
            <a:srgbClr val="0B1021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38BDF8"/>
                </a:solidFill>
                <a:latin typeface="Arial"/>
              </a:defRPr>
            </a:pPr>
            <a:r>
              <a:t>PROBLEM STATEMENT ID</a:t>
            </a:r>
          </a:p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SIH26184</a:t>
            </a:r>
          </a:p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Category: Software / Cyber Forensics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508760"/>
            <a:ext cx="5257800" cy="1143000"/>
          </a:xfrm>
          <a:prstGeom prst="roundRect">
            <a:avLst/>
          </a:prstGeom>
          <a:solidFill>
            <a:srgbClr val="0B1021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38BDF8"/>
                </a:solidFill>
                <a:latin typeface="Arial"/>
              </a:defRPr>
            </a:pPr>
            <a:r>
              <a:t>THEME &amp; CLIENT</a:t>
            </a:r>
          </a:p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Blockchain &amp; Cybersecurity</a:t>
            </a:r>
          </a:p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Ministry of Home Affairs / I4C (1930 Platform)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34639"/>
            <a:ext cx="5257800" cy="1143000"/>
          </a:xfrm>
          <a:prstGeom prst="roundRect">
            <a:avLst/>
          </a:prstGeom>
          <a:solidFill>
            <a:srgbClr val="0B1021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38BDF8"/>
                </a:solidFill>
                <a:latin typeface="Arial"/>
              </a:defRPr>
            </a:pPr>
            <a:r>
              <a:t>NOMINATED INSTITUTION</a:t>
            </a:r>
          </a:p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Anantha Lakshmi Inst. of Tech &amp; Sci (ALTS)</a:t>
            </a:r>
          </a:p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SPOC: Dr. Muralidhar Kurni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2834639"/>
            <a:ext cx="5257800" cy="1143000"/>
          </a:xfrm>
          <a:prstGeom prst="roundRect">
            <a:avLst/>
          </a:prstGeom>
          <a:solidFill>
            <a:srgbClr val="0B1021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38BDF8"/>
                </a:solidFill>
                <a:latin typeface="Arial"/>
              </a:defRPr>
            </a:pPr>
            <a:r>
              <a:t>STATUTORY COMPLIANCE</a:t>
            </a:r>
          </a:p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Sec 91 &amp; 102 CrPC</a:t>
            </a:r>
          </a:p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ISO 20022 Financial Spec | DPDP Act 2023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43400"/>
            <a:ext cx="10698480" cy="1737360"/>
          </a:xfrm>
          <a:prstGeom prst="roundRect">
            <a:avLst/>
          </a:prstGeom>
          <a:solidFill>
            <a:srgbClr val="0B1021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F4444"/>
                </a:solidFill>
              </a:defRPr>
            </a:pPr>
            <a:r>
              <a:t>CORE VALUE PROPOSITION &amp; OPERATIONAL SCOPE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An autonomous decision-support engine engineered specifically for the 1930 CFCFRMS platform that replaces 45-minute manual inter-bank inquiry latency with sub-15ms deterministic directed graph traversals and spatial decay probability modeling. It reconstructs multi-tier smurfing rings, calculates target ATM cash-out locations with 88%+ confidence, and automates Section 91 CrPC pre-freeze notices before physical cash extraction occurs.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SMART INDIA HACKATHON 2026  |  PROJECT KAVACH-GRAPH (PS ID: SIH26184)  |  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PROPOSED SOLUTION &amp; METHODOLOGY</a:t>
            </a:r>
          </a:p>
          <a:p>
            <a:pPr>
              <a:defRPr sz="1800" b="1">
                <a:solidFill>
                  <a:srgbClr val="F8FAFC"/>
                </a:solidFill>
                <a:latin typeface="Arial"/>
              </a:defRPr>
            </a:pPr>
            <a:r>
              <a:t>The 12-Minute Golden-Hour Interception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4937760" cy="4572000"/>
          </a:xfrm>
          <a:prstGeom prst="roundRect">
            <a:avLst/>
          </a:prstGeom>
          <a:solidFill>
            <a:srgbClr val="0B1021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END-TO-END INCIDENT PIPELINE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• [t=00s] 1930 Incident Ingestion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   Citizen reports fraudulent UPI/IMPS debit via Helpline 1930.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• [t=15ms] Deterministic BFS Graph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   NetworkX in-memory multigraph traverses 5-tier mule smurfing tree.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• [t=40ms] Spatial Decay Scoring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   Softmax model calculates ATM cash liquidity and withdrawal velocity.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• [t=60ms] Structured AI Dispatch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   Gemini 2.5 generates validated Sec 91 CrPC statutory dispatch orders.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• [t=100ms] Automated Switch Hold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   API webhooks broadcast pre-freeze holds to destination bank switches.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0" y="1508760"/>
            <a:ext cx="5577840" cy="4572000"/>
          </a:xfrm>
          <a:prstGeom prst="roundRect">
            <a:avLst/>
          </a:prstGeom>
          <a:solidFill>
            <a:srgbClr val="0B1021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F4444"/>
                </a:solidFill>
              </a:defRPr>
            </a:pPr>
            <a:r>
              <a:t>[ LIVE DASHBOARD PROTOTYPE SCREENSHOT ]</a:t>
            </a:r>
          </a:p>
          <a:p>
            <a:br/>
            <a:pPr algn="ctr">
              <a:defRPr sz="1000">
                <a:solidFill>
                  <a:srgbClr val="94A3B8"/>
                </a:solidFill>
              </a:defRPr>
            </a:pPr>
            <a:r>
              <a:t>(Paste screenshot of React Flow DAG + Leaflet GIS Map with Red Intercept Ring)</a:t>
            </a:r>
            <a:br/>
            <a:br/>
            <a:r>
              <a:t>Key Interactive Capabilities:</a:t>
            </a:r>
            <a:br/>
            <a:r>
              <a:t>✓ Live 11:42 Golden Window Intercept Countdown Timer</a:t>
            </a:r>
            <a:br/>
            <a:r>
              <a:t>✓ Staged Node Lighting (Victim -&gt; T1 -&gt; T2 -&gt; Cashout ATM)</a:t>
            </a:r>
            <a:br/>
            <a:r>
              <a:t>✓ Dynamic Transit Timestamps on Edge Connectors</a:t>
            </a:r>
            <a:br/>
            <a:r>
              <a:t>✓ 1-Click Sec 91 CrPC Automated Bank Freeze Trigger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SMART INDIA HACKATHON 2026  |  PROJECT KAVACH-GRAPH (PS ID: SIH26184)  |  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TECHNICAL APPROACH &amp; ARCHITECTURE</a:t>
            </a:r>
          </a:p>
          <a:p>
            <a:pPr>
              <a:defRPr sz="1800" b="1">
                <a:solidFill>
                  <a:srgbClr val="F8FAFC"/>
                </a:solidFill>
                <a:latin typeface="Arial"/>
              </a:defRPr>
            </a:pPr>
            <a:r>
              <a:t>Dual-Engine Architecture: Deterministic Graph Core + Structured Agent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257800" cy="4572000"/>
          </a:xfrm>
          <a:prstGeom prst="roundRect">
            <a:avLst/>
          </a:prstGeom>
          <a:solidFill>
            <a:srgbClr val="0B1021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DETERMINISTIC GRAPH FORENSICS (PURE MATH)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In-Memory NetworkX BFS Engine: Traverses multi-bank adjacency matrices locally in &lt;15ms with guaranteed O(V+E) linear time.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SHA-256 Client-Side Anonymization: Hashes all citizen PII (Account, UPI, Phone) at ingestion; zero clear-text exposure.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Spatial Decay Softmax Formulation: Raw Score S_i = [1/(Dist)^1.2] * [Liquidity/Max] * [1 + 0.15*Velocity]. Pinpoints target ATM with 88%+ confidence.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Zero Hallucination Guarantee: Pathfinding is strictly isolated from LLMs to prevent false positive criminal accusations.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508760"/>
            <a:ext cx="5257800" cy="4572000"/>
          </a:xfrm>
          <a:prstGeom prst="roundRect">
            <a:avLst/>
          </a:prstGeom>
          <a:solidFill>
            <a:srgbClr val="0B1021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AGENTIC DECISION LAYER &amp; TECHNOLOGY STACK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Google Gemini 2.5 Flash: Enforces strict Pydantic v2 schemas to synthesize typed PoliceDispatchAlert JSON contracts.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Statutory Mandate Synthesis: Formats actionable Section 91 CrPC notice payloads for field police patrol units.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Frontend Stack: React 18, TypeScript, TailwindCSS, @xyflow/react (Dynamic DAGs), React-Leaflet GIS.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Backend API Layer: FastAPI (Asynchronous Python microservice), NumPy, Uvicorn.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Synthetic Dataset: 50,000+ Multi-Tier Banking Transactions modeled on real I4C smurfing topologies.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SMART INDIA HACKATHON 2026  |  PROJECT KAVACH-GRAPH (PS ID: SIH26184)  |  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FEASIBILITY, VIABILITY &amp; SECURITY</a:t>
            </a:r>
          </a:p>
          <a:p>
            <a:pPr>
              <a:defRPr sz="1800" b="1">
                <a:solidFill>
                  <a:srgbClr val="F8FAFC"/>
                </a:solidFill>
                <a:latin typeface="Arial"/>
              </a:defRPr>
            </a:pPr>
            <a:r>
              <a:t>Privacy-by-Design &amp; 4-Stage Production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474720" cy="2011680"/>
          </a:xfrm>
          <a:prstGeom prst="roundRect">
            <a:avLst/>
          </a:prstGeom>
          <a:solidFill>
            <a:srgbClr val="0B102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10B981"/>
                </a:solidFill>
              </a:defRPr>
            </a:pPr>
            <a:r>
              <a:t>DPDP ACT 2023 COMPLIANCE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SHA-256 local client hashing anonymizes all account data. Graph nodes operate strictly on cryptographic IDs.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508760"/>
            <a:ext cx="3474720" cy="2011680"/>
          </a:xfrm>
          <a:prstGeom prst="roundRect">
            <a:avLst/>
          </a:prstGeom>
          <a:solidFill>
            <a:srgbClr val="0B1021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38BDF8"/>
                </a:solidFill>
              </a:defRPr>
            </a:pPr>
            <a:r>
              <a:t>HARDWARE EFFICIENCY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Runs locally on standard police workstations with &lt;400MB RAM footprint; zero costly cloud dependencies.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508760"/>
            <a:ext cx="3474720" cy="2011680"/>
          </a:xfrm>
          <a:prstGeom prst="roundRect">
            <a:avLst/>
          </a:prstGeom>
          <a:solidFill>
            <a:srgbClr val="0B1021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2563EB"/>
                </a:solidFill>
              </a:defRPr>
            </a:pPr>
            <a:r>
              <a:t>OFFLINE ROBUSTNESS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Deterministic graph and spatial engine operate fully air-gapped without mandatory internet access.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49039"/>
            <a:ext cx="10698480" cy="2377440"/>
          </a:xfrm>
          <a:prstGeom prst="roundRect">
            <a:avLst/>
          </a:prstGeom>
          <a:solidFill>
            <a:srgbClr val="0B1021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PRODUCTION EXECUTION ROADMAP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('[DONE] Phase 0: Research &amp; Surveys', 'Validated with Cyber Crime Police Station officers; confirmed manual inquiry bottleneck.')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('[DONE] Phase 1: Functional Prototype', 'Full-stack build: Sub-15ms BFS engine, spatial decay model, React Flow DAG console.')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('[NEXT] Phase 2: I4C Sandbox Pilot (Q3 2026)', 'Ingestion of anonymized historical NCRP data and bank nodal mock webhook testing.')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('[FUTURE] Phase 3: National Scale (2027)', 'Federation across 750+ District Cyber Crime Police Stations (CCPS) and NPCI switch rails.')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SMART INDIA HACKATHON 2026  |  PROJECT KAVACH-GRAPH (PS ID: SIH26184)  |  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IMPACT, BENEFITS &amp; BENCHMARKING</a:t>
            </a:r>
          </a:p>
          <a:p>
            <a:pPr>
              <a:defRPr sz="1800" b="1">
                <a:solidFill>
                  <a:srgbClr val="F8FAFC"/>
                </a:solidFill>
                <a:latin typeface="Arial"/>
              </a:defRPr>
            </a:pPr>
            <a:r>
              <a:t>Comparative Analysis: Legacy 1930 SOP vs Project KAVACH-GRAPH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08760"/>
          <a:ext cx="10698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886200"/>
                <a:gridCol w="3886200"/>
              </a:tblGrid>
              <a:tr h="51206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</a:defRPr>
                      </a:pPr>
                      <a:r>
                        <a:t>EVALUATION DIMENSION</a:t>
                      </a:r>
                    </a:p>
                  </a:txBody>
                  <a:tcPr>
                    <a:solidFill>
                      <a:srgbClr val="0608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</a:defRPr>
                      </a:pPr>
                      <a:r>
                        <a:t>EXISTING 1930 / BANK WORKFLOW</a:t>
                      </a:r>
                    </a:p>
                  </a:txBody>
                  <a:tcPr>
                    <a:solidFill>
                      <a:srgbClr val="0608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</a:defRPr>
                      </a:pPr>
                      <a:r>
                        <a:t>PROJECT KAVACH-GRAPH (PROPOSED)</a:t>
                      </a:r>
                    </a:p>
                  </a:txBody>
                  <a:tcPr>
                    <a:solidFill>
                      <a:srgbClr val="06080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Traversal Latency</a:t>
                      </a:r>
                    </a:p>
                  </a:txBody>
                  <a:tcPr>
                    <a:solidFill>
                      <a:srgbClr val="0B10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45 to 120 Minutes (Manual Emails)</a:t>
                      </a:r>
                    </a:p>
                  </a:txBody>
                  <a:tcPr>
                    <a:solidFill>
                      <a:srgbClr val="0B10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0B981"/>
                          </a:solidFill>
                        </a:defRPr>
                      </a:pPr>
                      <a:r>
                        <a:t>&lt; 15 Milliseconds (Deterministic In-Memory BFS)</a:t>
                      </a:r>
                    </a:p>
                  </a:txBody>
                  <a:tcPr>
                    <a:solidFill>
                      <a:srgbClr val="0B102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Cross-Bank Visibility</a:t>
                      </a:r>
                    </a:p>
                  </a:txBody>
                  <a:tcPr>
                    <a:solidFill>
                      <a:srgbClr val="0B10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Siloed (Single Institution Ledger View)</a:t>
                      </a:r>
                    </a:p>
                  </a:txBody>
                  <a:tcPr>
                    <a:solidFill>
                      <a:srgbClr val="0B10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0B981"/>
                          </a:solidFill>
                        </a:defRPr>
                      </a:pPr>
                      <a:r>
                        <a:t>Unified Cross-Bank Directed Multigraph (DAG)</a:t>
                      </a:r>
                    </a:p>
                  </a:txBody>
                  <a:tcPr>
                    <a:solidFill>
                      <a:srgbClr val="0B102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ATM Cash-Out Prediction</a:t>
                      </a:r>
                    </a:p>
                  </a:txBody>
                  <a:tcPr>
                    <a:solidFill>
                      <a:srgbClr val="0B10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Zero Capability (Post-Mortem CCTV Review)</a:t>
                      </a:r>
                    </a:p>
                  </a:txBody>
                  <a:tcPr>
                    <a:solidFill>
                      <a:srgbClr val="0B10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0B981"/>
                          </a:solidFill>
                        </a:defRPr>
                      </a:pPr>
                      <a:r>
                        <a:t>Multi-Factor Spatial Decay Softmax Model (88%+)</a:t>
                      </a:r>
                    </a:p>
                  </a:txBody>
                  <a:tcPr>
                    <a:solidFill>
                      <a:srgbClr val="0B102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Bank Freeze Notice</a:t>
                      </a:r>
                    </a:p>
                  </a:txBody>
                  <a:tcPr>
                    <a:solidFill>
                      <a:srgbClr val="0B10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</a:defRPr>
                      </a:pPr>
                      <a:r>
                        <a:t>Manual Batch Nodal Emails</a:t>
                      </a:r>
                    </a:p>
                  </a:txBody>
                  <a:tcPr>
                    <a:solidFill>
                      <a:srgbClr val="0B102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0B981"/>
                          </a:solidFill>
                        </a:defRPr>
                      </a:pPr>
                      <a:r>
                        <a:t>Automated Sec 91 CrPC REST Webhooks (&lt;100ms)</a:t>
                      </a:r>
                    </a:p>
                  </a:txBody>
                  <a:tcPr>
                    <a:solidFill>
                      <a:srgbClr val="0B1021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4297680"/>
            <a:ext cx="10698480" cy="1828800"/>
          </a:xfrm>
          <a:prstGeom prst="roundRect">
            <a:avLst/>
          </a:prstGeom>
          <a:solidFill>
            <a:srgbClr val="0B102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QUANTIFIED STAKEHOLDER ROI &amp; NATIONAL BENEFITS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For Police Officers: 12-minute predictive window with exact ATM GPS coordinates for targeted patrol van routing.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For Citizens: Estimated 65% reduction in unrecoverable physical cash-out losses during Golden-Hour incidents.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For MHA / I4C: Unified automated multi-agency triage pipeline with zero proprietary vendor licensing lock-in.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SMART INDIA HACKATHON 2026  |  PROJECT KAVACH-GRAPH (PS ID: SIH26184)  |  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STATUTORY FRAMEWORKS &amp; CITATIONS</a:t>
            </a:r>
          </a:p>
          <a:p>
            <a:pPr>
              <a:defRPr sz="1800" b="1">
                <a:solidFill>
                  <a:srgbClr val="F8FAFC"/>
                </a:solidFill>
                <a:latin typeface="Arial"/>
              </a:defRPr>
            </a:pPr>
            <a:r>
              <a:t>Official Research Foundation &amp; Legal Standards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0698480" cy="4572000"/>
          </a:xfrm>
          <a:prstGeom prst="roundRect">
            <a:avLst/>
          </a:prstGeom>
          <a:solidFill>
            <a:srgbClr val="0B1021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OFFICIAL GOVERNMENT REPORTS, LEGAL STATUTES &amp; SCIENTIFIC CITATIONS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1. Indian Cyber Crime Coordination Centre (I4C), MHA: Citizen Financial Cyber Fraud Reporting &amp; Management System (CFCFRMS / Helpline 1930 SOP Guidelines).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2. Statutory Criminal Procedure Provisions: Section 91 &amp; Section 102, Code of Criminal Procedure (CrPC) for Digital Requisitioning and Precautionary Account Seizure.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3. Cybersecurity &amp; Incident Mitigation Mandates: Section 69B &amp; Section 70B, Information Technology Act, 2000 (CERT-In Cybersecurity Directions).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4. Financial Messaging Standards: ISO 20022 Universal Financial Industry Message Scheme &amp; NPCI Unified Payments Interface (UPI) Procedural Guidelines.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5. Graph Algorithms &amp; Applied Mathematics: A. Hagberg et al., 'Exploring Network Structure with NetworkX', Proceedings of SciPy Conference.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6. Geospatial Decay Modeling: R. W. Sinnott, 'Virtues of the Haversine', Sky and Telescope (Earth-surface distance computation).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SMART INDIA HACKATHON 2026  |  PROJECT KAVACH-GRAPH (PS ID: SIH26184)  |  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